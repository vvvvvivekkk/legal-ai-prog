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8" r:id="rId3"/>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66" r:id="rId4"/>
    <p:sldId id="2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2E5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5B5D07-00AA-494B-840D-E9809FF4C4FD}" v="82" dt="2025-08-28T14:17:01.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253CB-09B8-40CA-A423-1F16116BB963}"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8016FF-DD62-4339-958E-2E587ABE146C}" type="slidenum">
              <a:rPr lang="en-US" smtClean="0"/>
              <a:t>‹#›</a:t>
            </a:fld>
            <a:endParaRPr lang="en-US"/>
          </a:p>
        </p:txBody>
      </p:sp>
    </p:spTree>
    <p:extLst>
      <p:ext uri="{BB962C8B-B14F-4D97-AF65-F5344CB8AC3E}">
        <p14:creationId xmlns:p14="http://schemas.microsoft.com/office/powerpoint/2010/main" val="1213219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68016FF-DD62-4339-958E-2E587ABE146C}" type="slidenum">
              <a:rPr lang="en-US" smtClean="0"/>
              <a:t>1</a:t>
            </a:fld>
            <a:endParaRPr lang="en-US"/>
          </a:p>
        </p:txBody>
      </p:sp>
    </p:spTree>
    <p:extLst>
      <p:ext uri="{BB962C8B-B14F-4D97-AF65-F5344CB8AC3E}">
        <p14:creationId xmlns:p14="http://schemas.microsoft.com/office/powerpoint/2010/main" val="3376098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01EF2-8C8D-78BB-E138-627C0164E4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BE137A-826E-51EE-7F83-659F0C73F4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DED2E3-0160-A14D-196B-48C7A410F695}"/>
              </a:ext>
            </a:extLst>
          </p:cNvPr>
          <p:cNvSpPr>
            <a:spLocks noGrp="1"/>
          </p:cNvSpPr>
          <p:nvPr>
            <p:ph type="dt" sz="half" idx="10"/>
          </p:nvPr>
        </p:nvSpPr>
        <p:spPr/>
        <p:txBody>
          <a:bodyPr/>
          <a:lstStyle/>
          <a:p>
            <a:r>
              <a:rPr lang="en-US"/>
              <a:t>02/05/2026 </a:t>
            </a:r>
          </a:p>
        </p:txBody>
      </p:sp>
      <p:sp>
        <p:nvSpPr>
          <p:cNvPr id="5" name="Footer Placeholder 4">
            <a:extLst>
              <a:ext uri="{FF2B5EF4-FFF2-40B4-BE49-F238E27FC236}">
                <a16:creationId xmlns:a16="http://schemas.microsoft.com/office/drawing/2014/main" id="{E075C468-6B81-59B7-E4AF-F243017A2F41}"/>
              </a:ext>
            </a:extLst>
          </p:cNvPr>
          <p:cNvSpPr>
            <a:spLocks noGrp="1"/>
          </p:cNvSpPr>
          <p:nvPr>
            <p:ph type="ftr" sz="quarter" idx="11"/>
          </p:nvPr>
        </p:nvSpPr>
        <p:spPr/>
        <p:txBody>
          <a:bodyPr/>
          <a:lstStyle/>
          <a:p>
            <a:r>
              <a:rPr lang="en-US"/>
              <a:t>Title</a:t>
            </a:r>
          </a:p>
        </p:txBody>
      </p:sp>
      <p:sp>
        <p:nvSpPr>
          <p:cNvPr id="6" name="Slide Number Placeholder 5">
            <a:extLst>
              <a:ext uri="{FF2B5EF4-FFF2-40B4-BE49-F238E27FC236}">
                <a16:creationId xmlns:a16="http://schemas.microsoft.com/office/drawing/2014/main" id="{96BDFF70-4AC8-BC09-028E-52C4AC1C458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24539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80BF9-CE2F-27EE-45B3-83C15B55E5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10D8DE-D23A-2743-129B-0C9DABE7C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56D65-7E39-D890-1D6C-F13ED3CD7BDD}"/>
              </a:ext>
            </a:extLst>
          </p:cNvPr>
          <p:cNvSpPr>
            <a:spLocks noGrp="1"/>
          </p:cNvSpPr>
          <p:nvPr>
            <p:ph type="dt" sz="half" idx="10"/>
          </p:nvPr>
        </p:nvSpPr>
        <p:spPr/>
        <p:txBody>
          <a:bodyPr/>
          <a:lstStyle/>
          <a:p>
            <a:r>
              <a:rPr lang="en-US"/>
              <a:t>02/05/2026 </a:t>
            </a:r>
          </a:p>
        </p:txBody>
      </p:sp>
      <p:sp>
        <p:nvSpPr>
          <p:cNvPr id="5" name="Footer Placeholder 4">
            <a:extLst>
              <a:ext uri="{FF2B5EF4-FFF2-40B4-BE49-F238E27FC236}">
                <a16:creationId xmlns:a16="http://schemas.microsoft.com/office/drawing/2014/main" id="{D2D5724B-31D1-182E-FF79-40657751948F}"/>
              </a:ext>
            </a:extLst>
          </p:cNvPr>
          <p:cNvSpPr>
            <a:spLocks noGrp="1"/>
          </p:cNvSpPr>
          <p:nvPr>
            <p:ph type="ftr" sz="quarter" idx="11"/>
          </p:nvPr>
        </p:nvSpPr>
        <p:spPr/>
        <p:txBody>
          <a:bodyPr/>
          <a:lstStyle/>
          <a:p>
            <a:r>
              <a:rPr lang="en-US"/>
              <a:t>Title</a:t>
            </a:r>
          </a:p>
        </p:txBody>
      </p:sp>
      <p:sp>
        <p:nvSpPr>
          <p:cNvPr id="6" name="Slide Number Placeholder 5">
            <a:extLst>
              <a:ext uri="{FF2B5EF4-FFF2-40B4-BE49-F238E27FC236}">
                <a16:creationId xmlns:a16="http://schemas.microsoft.com/office/drawing/2014/main" id="{46A9AEBC-ABF6-507B-44E1-699EC18AAAA6}"/>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372588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AD95-146C-05FE-4251-8831DF6632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8B9F32-F259-7D8C-1BA9-F41BE9A1E8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2B79FE-1E00-659F-7ED8-34F19CCCF9BC}"/>
              </a:ext>
            </a:extLst>
          </p:cNvPr>
          <p:cNvSpPr>
            <a:spLocks noGrp="1"/>
          </p:cNvSpPr>
          <p:nvPr>
            <p:ph type="dt" sz="half" idx="10"/>
          </p:nvPr>
        </p:nvSpPr>
        <p:spPr/>
        <p:txBody>
          <a:bodyPr/>
          <a:lstStyle/>
          <a:p>
            <a:r>
              <a:rPr lang="en-US"/>
              <a:t>02/05/2026 </a:t>
            </a:r>
          </a:p>
        </p:txBody>
      </p:sp>
      <p:sp>
        <p:nvSpPr>
          <p:cNvPr id="5" name="Footer Placeholder 4">
            <a:extLst>
              <a:ext uri="{FF2B5EF4-FFF2-40B4-BE49-F238E27FC236}">
                <a16:creationId xmlns:a16="http://schemas.microsoft.com/office/drawing/2014/main" id="{9437C2B5-199C-8087-3D5F-338CFCCD924B}"/>
              </a:ext>
            </a:extLst>
          </p:cNvPr>
          <p:cNvSpPr>
            <a:spLocks noGrp="1"/>
          </p:cNvSpPr>
          <p:nvPr>
            <p:ph type="ftr" sz="quarter" idx="11"/>
          </p:nvPr>
        </p:nvSpPr>
        <p:spPr/>
        <p:txBody>
          <a:bodyPr/>
          <a:lstStyle/>
          <a:p>
            <a:r>
              <a:rPr lang="en-US"/>
              <a:t>Title</a:t>
            </a:r>
          </a:p>
        </p:txBody>
      </p:sp>
      <p:sp>
        <p:nvSpPr>
          <p:cNvPr id="6" name="Slide Number Placeholder 5">
            <a:extLst>
              <a:ext uri="{FF2B5EF4-FFF2-40B4-BE49-F238E27FC236}">
                <a16:creationId xmlns:a16="http://schemas.microsoft.com/office/drawing/2014/main" id="{B9099207-F8A8-04CC-78FF-60A26E4CE36F}"/>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2179797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3E8C8-8D3D-ACEA-B867-A22C1589CC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55BCC7-AC46-A8E5-71EB-96E399C792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8BAF31-C5AD-FCCF-4F55-1BBFF154F9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EF56F-E683-099E-D9FC-CFD47D737C3B}"/>
              </a:ext>
            </a:extLst>
          </p:cNvPr>
          <p:cNvSpPr>
            <a:spLocks noGrp="1"/>
          </p:cNvSpPr>
          <p:nvPr>
            <p:ph type="dt" sz="half" idx="10"/>
          </p:nvPr>
        </p:nvSpPr>
        <p:spPr/>
        <p:txBody>
          <a:bodyPr/>
          <a:lstStyle/>
          <a:p>
            <a:r>
              <a:rPr lang="en-US"/>
              <a:t>02/05/2026 </a:t>
            </a:r>
          </a:p>
        </p:txBody>
      </p:sp>
      <p:sp>
        <p:nvSpPr>
          <p:cNvPr id="6" name="Footer Placeholder 5">
            <a:extLst>
              <a:ext uri="{FF2B5EF4-FFF2-40B4-BE49-F238E27FC236}">
                <a16:creationId xmlns:a16="http://schemas.microsoft.com/office/drawing/2014/main" id="{F54599AB-4809-E851-9B67-ECAB8ADDB714}"/>
              </a:ext>
            </a:extLst>
          </p:cNvPr>
          <p:cNvSpPr>
            <a:spLocks noGrp="1"/>
          </p:cNvSpPr>
          <p:nvPr>
            <p:ph type="ftr" sz="quarter" idx="11"/>
          </p:nvPr>
        </p:nvSpPr>
        <p:spPr/>
        <p:txBody>
          <a:bodyPr/>
          <a:lstStyle/>
          <a:p>
            <a:r>
              <a:rPr lang="en-US"/>
              <a:t>Title</a:t>
            </a:r>
          </a:p>
        </p:txBody>
      </p:sp>
      <p:sp>
        <p:nvSpPr>
          <p:cNvPr id="7" name="Slide Number Placeholder 6">
            <a:extLst>
              <a:ext uri="{FF2B5EF4-FFF2-40B4-BE49-F238E27FC236}">
                <a16:creationId xmlns:a16="http://schemas.microsoft.com/office/drawing/2014/main" id="{774630DA-BE55-BF31-40AD-DDCC865E5A5C}"/>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1989471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6A9CE-784E-4180-E8BE-C03B81F95F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122279-09AA-9CF0-4BBC-729E43057A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4927B1-1A23-EAE2-F82E-47B4B883B0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2EAF30-42FB-1D79-65DB-57142CD172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CA3DB-772D-7ED2-C578-3EC3076F84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82514D-35C7-8244-9E9E-BDF6DE5362E5}"/>
              </a:ext>
            </a:extLst>
          </p:cNvPr>
          <p:cNvSpPr>
            <a:spLocks noGrp="1"/>
          </p:cNvSpPr>
          <p:nvPr>
            <p:ph type="dt" sz="half" idx="10"/>
          </p:nvPr>
        </p:nvSpPr>
        <p:spPr/>
        <p:txBody>
          <a:bodyPr/>
          <a:lstStyle/>
          <a:p>
            <a:r>
              <a:rPr lang="en-US"/>
              <a:t>02/05/2026 </a:t>
            </a:r>
          </a:p>
        </p:txBody>
      </p:sp>
      <p:sp>
        <p:nvSpPr>
          <p:cNvPr id="8" name="Footer Placeholder 7">
            <a:extLst>
              <a:ext uri="{FF2B5EF4-FFF2-40B4-BE49-F238E27FC236}">
                <a16:creationId xmlns:a16="http://schemas.microsoft.com/office/drawing/2014/main" id="{42D5056D-8D07-E614-FAF9-F4A89F3F00FC}"/>
              </a:ext>
            </a:extLst>
          </p:cNvPr>
          <p:cNvSpPr>
            <a:spLocks noGrp="1"/>
          </p:cNvSpPr>
          <p:nvPr>
            <p:ph type="ftr" sz="quarter" idx="11"/>
          </p:nvPr>
        </p:nvSpPr>
        <p:spPr/>
        <p:txBody>
          <a:bodyPr/>
          <a:lstStyle/>
          <a:p>
            <a:r>
              <a:rPr lang="en-US"/>
              <a:t>Title</a:t>
            </a:r>
          </a:p>
        </p:txBody>
      </p:sp>
      <p:sp>
        <p:nvSpPr>
          <p:cNvPr id="9" name="Slide Number Placeholder 8">
            <a:extLst>
              <a:ext uri="{FF2B5EF4-FFF2-40B4-BE49-F238E27FC236}">
                <a16:creationId xmlns:a16="http://schemas.microsoft.com/office/drawing/2014/main" id="{83ED0DBF-0A43-EA09-7ADC-FBCAFD0F22CA}"/>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10341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90AAA-199F-8167-4839-0088D47C2C3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5076C3-01E7-BC98-2569-ABC12DF55A44}"/>
              </a:ext>
            </a:extLst>
          </p:cNvPr>
          <p:cNvSpPr>
            <a:spLocks noGrp="1"/>
          </p:cNvSpPr>
          <p:nvPr>
            <p:ph type="dt" sz="half" idx="10"/>
          </p:nvPr>
        </p:nvSpPr>
        <p:spPr/>
        <p:txBody>
          <a:bodyPr/>
          <a:lstStyle/>
          <a:p>
            <a:r>
              <a:rPr lang="en-US"/>
              <a:t>02/05/2026 </a:t>
            </a:r>
          </a:p>
        </p:txBody>
      </p:sp>
      <p:sp>
        <p:nvSpPr>
          <p:cNvPr id="4" name="Footer Placeholder 3">
            <a:extLst>
              <a:ext uri="{FF2B5EF4-FFF2-40B4-BE49-F238E27FC236}">
                <a16:creationId xmlns:a16="http://schemas.microsoft.com/office/drawing/2014/main" id="{2AA5C32E-A1BA-308B-2FE7-653161809CE4}"/>
              </a:ext>
            </a:extLst>
          </p:cNvPr>
          <p:cNvSpPr>
            <a:spLocks noGrp="1"/>
          </p:cNvSpPr>
          <p:nvPr>
            <p:ph type="ftr" sz="quarter" idx="11"/>
          </p:nvPr>
        </p:nvSpPr>
        <p:spPr/>
        <p:txBody>
          <a:bodyPr/>
          <a:lstStyle/>
          <a:p>
            <a:r>
              <a:rPr lang="en-US"/>
              <a:t>Title</a:t>
            </a:r>
          </a:p>
        </p:txBody>
      </p:sp>
      <p:sp>
        <p:nvSpPr>
          <p:cNvPr id="5" name="Slide Number Placeholder 4">
            <a:extLst>
              <a:ext uri="{FF2B5EF4-FFF2-40B4-BE49-F238E27FC236}">
                <a16:creationId xmlns:a16="http://schemas.microsoft.com/office/drawing/2014/main" id="{0F90D3CF-653C-5938-6CB7-9C3BA947B58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75930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9663EB-5CFA-1A60-D6EA-5566841AC087}"/>
              </a:ext>
            </a:extLst>
          </p:cNvPr>
          <p:cNvSpPr>
            <a:spLocks noGrp="1"/>
          </p:cNvSpPr>
          <p:nvPr>
            <p:ph type="dt" sz="half" idx="10"/>
          </p:nvPr>
        </p:nvSpPr>
        <p:spPr/>
        <p:txBody>
          <a:bodyPr/>
          <a:lstStyle/>
          <a:p>
            <a:r>
              <a:rPr lang="en-US"/>
              <a:t>02/05/2026 </a:t>
            </a:r>
          </a:p>
        </p:txBody>
      </p:sp>
      <p:sp>
        <p:nvSpPr>
          <p:cNvPr id="3" name="Footer Placeholder 2">
            <a:extLst>
              <a:ext uri="{FF2B5EF4-FFF2-40B4-BE49-F238E27FC236}">
                <a16:creationId xmlns:a16="http://schemas.microsoft.com/office/drawing/2014/main" id="{A53BA782-74A4-9C42-4E46-F4044C4D9EC5}"/>
              </a:ext>
            </a:extLst>
          </p:cNvPr>
          <p:cNvSpPr>
            <a:spLocks noGrp="1"/>
          </p:cNvSpPr>
          <p:nvPr>
            <p:ph type="ftr" sz="quarter" idx="11"/>
          </p:nvPr>
        </p:nvSpPr>
        <p:spPr/>
        <p:txBody>
          <a:bodyPr/>
          <a:lstStyle/>
          <a:p>
            <a:r>
              <a:rPr lang="en-US"/>
              <a:t>Title</a:t>
            </a:r>
          </a:p>
        </p:txBody>
      </p:sp>
      <p:sp>
        <p:nvSpPr>
          <p:cNvPr id="4" name="Slide Number Placeholder 3">
            <a:extLst>
              <a:ext uri="{FF2B5EF4-FFF2-40B4-BE49-F238E27FC236}">
                <a16:creationId xmlns:a16="http://schemas.microsoft.com/office/drawing/2014/main" id="{74CA02C9-315F-43FF-625B-413CDCBF0497}"/>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09505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A04A-6997-6DFB-904B-48CAD2EAE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02B9D-EC7D-AEC3-ED06-6CE8D8B0F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E39FE14-FF67-27E4-8334-72C7E3E482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E88D0-198F-8842-87A0-2F3E984ADCB7}"/>
              </a:ext>
            </a:extLst>
          </p:cNvPr>
          <p:cNvSpPr>
            <a:spLocks noGrp="1"/>
          </p:cNvSpPr>
          <p:nvPr>
            <p:ph type="dt" sz="half" idx="10"/>
          </p:nvPr>
        </p:nvSpPr>
        <p:spPr/>
        <p:txBody>
          <a:bodyPr/>
          <a:lstStyle/>
          <a:p>
            <a:r>
              <a:rPr lang="en-US"/>
              <a:t>02/05/2026 </a:t>
            </a:r>
          </a:p>
        </p:txBody>
      </p:sp>
      <p:sp>
        <p:nvSpPr>
          <p:cNvPr id="6" name="Footer Placeholder 5">
            <a:extLst>
              <a:ext uri="{FF2B5EF4-FFF2-40B4-BE49-F238E27FC236}">
                <a16:creationId xmlns:a16="http://schemas.microsoft.com/office/drawing/2014/main" id="{1DC36969-267D-2D25-5024-FA399125903F}"/>
              </a:ext>
            </a:extLst>
          </p:cNvPr>
          <p:cNvSpPr>
            <a:spLocks noGrp="1"/>
          </p:cNvSpPr>
          <p:nvPr>
            <p:ph type="ftr" sz="quarter" idx="11"/>
          </p:nvPr>
        </p:nvSpPr>
        <p:spPr/>
        <p:txBody>
          <a:bodyPr/>
          <a:lstStyle/>
          <a:p>
            <a:r>
              <a:rPr lang="en-US"/>
              <a:t>Title</a:t>
            </a:r>
          </a:p>
        </p:txBody>
      </p:sp>
      <p:sp>
        <p:nvSpPr>
          <p:cNvPr id="7" name="Slide Number Placeholder 6">
            <a:extLst>
              <a:ext uri="{FF2B5EF4-FFF2-40B4-BE49-F238E27FC236}">
                <a16:creationId xmlns:a16="http://schemas.microsoft.com/office/drawing/2014/main" id="{504EFF8C-2D2B-3405-1F3D-03510F5B4B3B}"/>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49662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6ABFC-C342-0246-29C0-95E0094907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B2EA03-F82B-CD2C-BA2E-66CEA2396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F5001FB-D076-993F-2DB0-0EF35DAFE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7C6E3D-66F3-15E8-D7E7-C2106333961C}"/>
              </a:ext>
            </a:extLst>
          </p:cNvPr>
          <p:cNvSpPr>
            <a:spLocks noGrp="1"/>
          </p:cNvSpPr>
          <p:nvPr>
            <p:ph type="dt" sz="half" idx="10"/>
          </p:nvPr>
        </p:nvSpPr>
        <p:spPr/>
        <p:txBody>
          <a:bodyPr/>
          <a:lstStyle/>
          <a:p>
            <a:r>
              <a:rPr lang="en-US"/>
              <a:t>02/05/2026 </a:t>
            </a:r>
          </a:p>
        </p:txBody>
      </p:sp>
      <p:sp>
        <p:nvSpPr>
          <p:cNvPr id="6" name="Footer Placeholder 5">
            <a:extLst>
              <a:ext uri="{FF2B5EF4-FFF2-40B4-BE49-F238E27FC236}">
                <a16:creationId xmlns:a16="http://schemas.microsoft.com/office/drawing/2014/main" id="{343C4EAE-B09F-40FD-2EFA-EC602729EBA4}"/>
              </a:ext>
            </a:extLst>
          </p:cNvPr>
          <p:cNvSpPr>
            <a:spLocks noGrp="1"/>
          </p:cNvSpPr>
          <p:nvPr>
            <p:ph type="ftr" sz="quarter" idx="11"/>
          </p:nvPr>
        </p:nvSpPr>
        <p:spPr/>
        <p:txBody>
          <a:bodyPr/>
          <a:lstStyle/>
          <a:p>
            <a:r>
              <a:rPr lang="en-US"/>
              <a:t>Title</a:t>
            </a:r>
          </a:p>
        </p:txBody>
      </p:sp>
      <p:sp>
        <p:nvSpPr>
          <p:cNvPr id="7" name="Slide Number Placeholder 6">
            <a:extLst>
              <a:ext uri="{FF2B5EF4-FFF2-40B4-BE49-F238E27FC236}">
                <a16:creationId xmlns:a16="http://schemas.microsoft.com/office/drawing/2014/main" id="{6B24E427-69C5-8DF6-11B2-3519C929F20E}"/>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707062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E5F6C-08DC-BC9D-CE1B-6DD8BEBCC4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F4BB64-1FC3-8EF6-616F-F358669567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B80E2-1BD2-CADA-8263-CC366600213C}"/>
              </a:ext>
            </a:extLst>
          </p:cNvPr>
          <p:cNvSpPr>
            <a:spLocks noGrp="1"/>
          </p:cNvSpPr>
          <p:nvPr>
            <p:ph type="dt" sz="half" idx="10"/>
          </p:nvPr>
        </p:nvSpPr>
        <p:spPr/>
        <p:txBody>
          <a:bodyPr/>
          <a:lstStyle/>
          <a:p>
            <a:r>
              <a:rPr lang="en-US"/>
              <a:t>02/05/2026 </a:t>
            </a:r>
          </a:p>
        </p:txBody>
      </p:sp>
      <p:sp>
        <p:nvSpPr>
          <p:cNvPr id="5" name="Footer Placeholder 4">
            <a:extLst>
              <a:ext uri="{FF2B5EF4-FFF2-40B4-BE49-F238E27FC236}">
                <a16:creationId xmlns:a16="http://schemas.microsoft.com/office/drawing/2014/main" id="{20087975-1ACD-C498-EC32-E287092B8BCE}"/>
              </a:ext>
            </a:extLst>
          </p:cNvPr>
          <p:cNvSpPr>
            <a:spLocks noGrp="1"/>
          </p:cNvSpPr>
          <p:nvPr>
            <p:ph type="ftr" sz="quarter" idx="11"/>
          </p:nvPr>
        </p:nvSpPr>
        <p:spPr/>
        <p:txBody>
          <a:bodyPr/>
          <a:lstStyle/>
          <a:p>
            <a:r>
              <a:rPr lang="en-US"/>
              <a:t>Title</a:t>
            </a:r>
          </a:p>
        </p:txBody>
      </p:sp>
      <p:sp>
        <p:nvSpPr>
          <p:cNvPr id="6" name="Slide Number Placeholder 5">
            <a:extLst>
              <a:ext uri="{FF2B5EF4-FFF2-40B4-BE49-F238E27FC236}">
                <a16:creationId xmlns:a16="http://schemas.microsoft.com/office/drawing/2014/main" id="{F4409F23-807D-F7B1-59E5-C55EFEA84CD3}"/>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4193374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34B9D6-E5F4-B75C-6EC1-156525320F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0D9455-0092-A366-F786-A3D11288D3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3AD1A1-DE8E-CC0A-342E-D84C71CFB294}"/>
              </a:ext>
            </a:extLst>
          </p:cNvPr>
          <p:cNvSpPr>
            <a:spLocks noGrp="1"/>
          </p:cNvSpPr>
          <p:nvPr>
            <p:ph type="dt" sz="half" idx="10"/>
          </p:nvPr>
        </p:nvSpPr>
        <p:spPr/>
        <p:txBody>
          <a:bodyPr/>
          <a:lstStyle/>
          <a:p>
            <a:r>
              <a:rPr lang="en-US"/>
              <a:t>02/05/2026 </a:t>
            </a:r>
          </a:p>
        </p:txBody>
      </p:sp>
      <p:sp>
        <p:nvSpPr>
          <p:cNvPr id="5" name="Footer Placeholder 4">
            <a:extLst>
              <a:ext uri="{FF2B5EF4-FFF2-40B4-BE49-F238E27FC236}">
                <a16:creationId xmlns:a16="http://schemas.microsoft.com/office/drawing/2014/main" id="{EAF51EEB-1A97-0FA2-1CB9-7878BFDF1CEE}"/>
              </a:ext>
            </a:extLst>
          </p:cNvPr>
          <p:cNvSpPr>
            <a:spLocks noGrp="1"/>
          </p:cNvSpPr>
          <p:nvPr>
            <p:ph type="ftr" sz="quarter" idx="11"/>
          </p:nvPr>
        </p:nvSpPr>
        <p:spPr/>
        <p:txBody>
          <a:bodyPr/>
          <a:lstStyle/>
          <a:p>
            <a:r>
              <a:rPr lang="en-US"/>
              <a:t>Title</a:t>
            </a:r>
          </a:p>
        </p:txBody>
      </p:sp>
      <p:sp>
        <p:nvSpPr>
          <p:cNvPr id="6" name="Slide Number Placeholder 5">
            <a:extLst>
              <a:ext uri="{FF2B5EF4-FFF2-40B4-BE49-F238E27FC236}">
                <a16:creationId xmlns:a16="http://schemas.microsoft.com/office/drawing/2014/main" id="{5B3B792E-4B68-C5DE-A2ED-F0555EE1F74D}"/>
              </a:ext>
            </a:extLst>
          </p:cNvPr>
          <p:cNvSpPr>
            <a:spLocks noGrp="1"/>
          </p:cNvSpPr>
          <p:nvPr>
            <p:ph type="sldNum" sz="quarter" idx="12"/>
          </p:nvPr>
        </p:nvSpPr>
        <p:spPr/>
        <p:txBody>
          <a:bodyPr/>
          <a:lstStyle/>
          <a:p>
            <a:fld id="{5DA9DDE7-DF24-421B-8B5A-9F7A222497E2}" type="slidenum">
              <a:rPr lang="en-US" smtClean="0"/>
              <a:t>‹#›</a:t>
            </a:fld>
            <a:endParaRPr lang="en-US"/>
          </a:p>
        </p:txBody>
      </p:sp>
    </p:spTree>
    <p:extLst>
      <p:ext uri="{BB962C8B-B14F-4D97-AF65-F5344CB8AC3E}">
        <p14:creationId xmlns:p14="http://schemas.microsoft.com/office/powerpoint/2010/main" val="35400369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6916B8-54CB-8C0F-3FC6-23BA309445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B8969F-4EBB-4D0A-8086-6ECC31318A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F1603-12F9-FE6F-0DDD-E9F00CA209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02/05/2026 </a:t>
            </a:r>
          </a:p>
        </p:txBody>
      </p:sp>
      <p:sp>
        <p:nvSpPr>
          <p:cNvPr id="5" name="Footer Placeholder 4">
            <a:extLst>
              <a:ext uri="{FF2B5EF4-FFF2-40B4-BE49-F238E27FC236}">
                <a16:creationId xmlns:a16="http://schemas.microsoft.com/office/drawing/2014/main" id="{5E6B006A-4311-7855-7A42-6BC26A436A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Title</a:t>
            </a:r>
          </a:p>
        </p:txBody>
      </p:sp>
      <p:sp>
        <p:nvSpPr>
          <p:cNvPr id="6" name="Slide Number Placeholder 5">
            <a:extLst>
              <a:ext uri="{FF2B5EF4-FFF2-40B4-BE49-F238E27FC236}">
                <a16:creationId xmlns:a16="http://schemas.microsoft.com/office/drawing/2014/main" id="{3143DAD4-E3C6-D3E9-0894-F3ED84F03B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DDE7-DF24-421B-8B5A-9F7A222497E2}" type="slidenum">
              <a:rPr lang="en-US" smtClean="0"/>
              <a:t>‹#›</a:t>
            </a:fld>
            <a:endParaRPr lang="en-US"/>
          </a:p>
        </p:txBody>
      </p:sp>
    </p:spTree>
    <p:extLst>
      <p:ext uri="{BB962C8B-B14F-4D97-AF65-F5344CB8AC3E}">
        <p14:creationId xmlns:p14="http://schemas.microsoft.com/office/powerpoint/2010/main" val="2805267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45F56C-56B1-1AD9-8EEB-7A618ACA361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64A4B94-0AEC-CAF8-2CA8-FA5281832D77}"/>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BE25E134-3879-905D-F8E3-071DF2C181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54B7778-F74C-FF6C-1107-E2CCF24A8117}"/>
              </a:ext>
            </a:extLst>
          </p:cNvPr>
          <p:cNvSpPr txBox="1"/>
          <p:nvPr/>
        </p:nvSpPr>
        <p:spPr>
          <a:xfrm>
            <a:off x="887983" y="1244960"/>
            <a:ext cx="10684891" cy="4461129"/>
          </a:xfrm>
          <a:prstGeom prst="rect">
            <a:avLst/>
          </a:prstGeom>
          <a:noFill/>
        </p:spPr>
        <p:txBody>
          <a:bodyPr wrap="square" rtlCol="0">
            <a:noAutofit/>
          </a:bodyPr>
          <a:lstStyle/>
          <a:p>
            <a:pPr algn="ctr"/>
            <a:endPar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algn="ctr"/>
            <a:r>
              <a:rPr lang="en-US"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Major</a:t>
            </a:r>
            <a:r>
              <a:rPr lang="en-IN" alt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 Project External Presentation</a:t>
            </a:r>
          </a:p>
          <a:p>
            <a:pPr algn="ctr"/>
            <a:endParaRPr lang="en-IN" sz="28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endParaRPr>
          </a:p>
          <a:p>
            <a:pPr algn="ctr"/>
            <a:r>
              <a:rPr sz="2200" b="1">
                <a:solidFill>
                  <a:srgbClr val="000000"/>
                </a:solidFill>
                <a:latin typeface="Times New Roman"/>
              </a:rPr>
              <a:t>Reducing Hallucinations in Legal AI: Retrieval-Augmented Generation with a Gated Verification Chain</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sz="2000" b="1">
                <a:solidFill>
                  <a:srgbClr val="1D2E5C"/>
                </a:solidFill>
                <a:latin typeface="Times New Roman"/>
              </a:rPr>
              <a:t>Team No: </a:t>
            </a:r>
          </a:p>
          <a:p>
            <a:r>
              <a:rPr sz="2000" b="1">
                <a:solidFill>
                  <a:srgbClr val="1D2E5C"/>
                </a:solidFill>
                <a:latin typeface="Times New Roman"/>
              </a:rPr>
              <a:t>Student Name : Aleti Vivek Reddy		Guide Name : S. Ravi Kumar</a:t>
            </a:r>
          </a:p>
          <a:p>
            <a:r>
              <a:rPr sz="2000" b="1">
                <a:solidFill>
                  <a:srgbClr val="1D2E5C"/>
                </a:solidFill>
                <a:latin typeface="Times New Roman"/>
              </a:rPr>
              <a:t>HT.No	 : 23EG106C04			Designation : Assistant Professor</a:t>
            </a:r>
          </a:p>
          <a:p>
            <a:pPr algn="just"/>
            <a:r>
              <a:rPr sz="2000" b="1">
                <a:solidFill>
                  <a:srgbClr val="1D2E5C"/>
                </a:solidFill>
                <a:latin typeface="Times New Roman"/>
              </a:rPr>
              <a:t>Student Name : N. Akshith Sai</a:t>
            </a:r>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a:p>
            <a:pPr algn="just"/>
            <a:r>
              <a:rPr sz="2000" b="1">
                <a:solidFill>
                  <a:srgbClr val="1D2E5C"/>
                </a:solidFill>
                <a:latin typeface="Times New Roman"/>
              </a:rPr>
              <a:t>HT.No	 : 23EG106C03</a:t>
            </a:r>
          </a:p>
          <a:p>
            <a:pPr algn="just"/>
            <a:r>
              <a:rPr sz="2000" b="1">
                <a:solidFill>
                  <a:srgbClr val="1D2E5C"/>
                </a:solidFill>
                <a:latin typeface="Times New Roman"/>
              </a:rPr>
              <a:t>Student Name : K. Uday</a:t>
            </a:r>
            <a:endParaRPr 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mn-ea"/>
            </a:endParaRPr>
          </a:p>
          <a:p>
            <a:r>
              <a:rPr sz="2000" b="1">
                <a:solidFill>
                  <a:srgbClr val="1D2E5C"/>
                </a:solidFill>
                <a:latin typeface="Times New Roman"/>
              </a:rPr>
              <a:t>HT.No	 : 23EG106C30</a:t>
            </a:r>
            <a:endParaRPr lang="en-US" altLang="en-IN" sz="24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BD9EE75A-A727-0796-4913-D38E135CC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2344" y="378389"/>
            <a:ext cx="5140043" cy="1106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730FBBDB-1D9B-B5E5-E149-1B2FCE5012C0}"/>
              </a:ext>
            </a:extLst>
          </p:cNvPr>
          <p:cNvSpPr>
            <a:spLocks noGrp="1"/>
          </p:cNvSpPr>
          <p:nvPr>
            <p:ph type="sldNum" sz="quarter" idx="12"/>
          </p:nvPr>
        </p:nvSpPr>
        <p:spPr/>
        <p:txBody>
          <a:bodyPr/>
          <a:lstStyle/>
          <a:p>
            <a:fld id="{5DA9DDE7-DF24-421B-8B5A-9F7A222497E2}" type="slidenum">
              <a:rPr lang="en-US" smtClean="0"/>
              <a:t>1</a:t>
            </a:fld>
            <a:endParaRPr lang="en-US"/>
          </a:p>
        </p:txBody>
      </p:sp>
      <p:sp>
        <p:nvSpPr>
          <p:cNvPr id="6" name="Date Placeholder 5">
            <a:extLst>
              <a:ext uri="{FF2B5EF4-FFF2-40B4-BE49-F238E27FC236}">
                <a16:creationId xmlns:a16="http://schemas.microsoft.com/office/drawing/2014/main" id="{CBA6DA1C-8E3B-0468-8B76-60138437D181}"/>
              </a:ext>
            </a:extLst>
          </p:cNvPr>
          <p:cNvSpPr>
            <a:spLocks noGrp="1"/>
          </p:cNvSpPr>
          <p:nvPr>
            <p:ph type="dt" sz="half" idx="10"/>
          </p:nvPr>
        </p:nvSpPr>
        <p:spPr/>
        <p:txBody>
          <a:bodyPr/>
          <a:lstStyle/>
          <a:p>
            <a:r>
              <a:rPr lang="en-US"/>
              <a:t>02/05/2026 </a:t>
            </a:r>
          </a:p>
        </p:txBody>
      </p:sp>
      <p:sp>
        <p:nvSpPr>
          <p:cNvPr id="7" name="Footer Placeholder 6">
            <a:extLst>
              <a:ext uri="{FF2B5EF4-FFF2-40B4-BE49-F238E27FC236}">
                <a16:creationId xmlns:a16="http://schemas.microsoft.com/office/drawing/2014/main" id="{46BE3CEF-6431-0BDD-2516-997135C68462}"/>
              </a:ext>
            </a:extLst>
          </p:cNvPr>
          <p:cNvSpPr>
            <a:spLocks noGrp="1"/>
          </p:cNvSpPr>
          <p:nvPr>
            <p:ph type="ftr" sz="quarter" idx="11"/>
          </p:nvPr>
        </p:nvSpPr>
        <p:spPr/>
        <p:txBody>
          <a:bodyPr/>
          <a:lstStyle/>
          <a:p>
            <a:r>
              <a:rPr sz="1200">
                <a:solidFill>
                  <a:srgbClr val="898989"/>
                </a:solidFill>
                <a:latin typeface="Calibri"/>
              </a:rPr>
              <a:t>Reducing Hallucinations in Legal AI</a:t>
            </a:r>
          </a:p>
        </p:txBody>
      </p:sp>
    </p:spTree>
    <p:extLst>
      <p:ext uri="{BB962C8B-B14F-4D97-AF65-F5344CB8AC3E}">
        <p14:creationId xmlns:p14="http://schemas.microsoft.com/office/powerpoint/2010/main" val="2933901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8A57-4ABC-4F8C-F2E9-3985A1BDE87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5024DE-566A-E135-C99C-708A264C5948}"/>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681996E-7476-463E-C7E7-EA5EF08F7D66}"/>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25B72E0C-ECB5-C8D2-E9EA-697A8A09AC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12B7D984-F481-8A82-3731-664409E71878}"/>
              </a:ext>
            </a:extLst>
          </p:cNvPr>
          <p:cNvGraphicFramePr>
            <a:graphicFrameLocks noGrp="1"/>
          </p:cNvGraphicFramePr>
          <p:nvPr>
            <p:extLst>
              <p:ext uri="{D42A27DB-BD31-4B8C-83A1-F6EECF244321}">
                <p14:modId xmlns:p14="http://schemas.microsoft.com/office/powerpoint/2010/main" val="1851039793"/>
              </p:ext>
            </p:extLst>
          </p:nvPr>
        </p:nvGraphicFramePr>
        <p:xfrm>
          <a:off x="1827861" y="1055819"/>
          <a:ext cx="8908966" cy="5100384"/>
        </p:xfrm>
        <a:graphic>
          <a:graphicData uri="http://schemas.openxmlformats.org/drawingml/2006/table">
            <a:tbl>
              <a:tblPr firstRow="1" bandRow="1">
                <a:tableStyleId>{5C22544A-7EE6-4342-B048-85BDC9FD1C3A}</a:tableStyleId>
              </a:tblPr>
              <a:tblGrid>
                <a:gridCol w="1086188">
                  <a:extLst>
                    <a:ext uri="{9D8B030D-6E8A-4147-A177-3AD203B41FA5}">
                      <a16:colId xmlns:a16="http://schemas.microsoft.com/office/drawing/2014/main" val="3368147984"/>
                    </a:ext>
                  </a:extLst>
                </a:gridCol>
                <a:gridCol w="4582743">
                  <a:extLst>
                    <a:ext uri="{9D8B030D-6E8A-4147-A177-3AD203B41FA5}">
                      <a16:colId xmlns:a16="http://schemas.microsoft.com/office/drawing/2014/main" val="3995356100"/>
                    </a:ext>
                  </a:extLst>
                </a:gridCol>
                <a:gridCol w="3240035">
                  <a:extLst>
                    <a:ext uri="{9D8B030D-6E8A-4147-A177-3AD203B41FA5}">
                      <a16:colId xmlns:a16="http://schemas.microsoft.com/office/drawing/2014/main" val="2741894368"/>
                    </a:ext>
                  </a:extLst>
                </a:gridCol>
              </a:tblGrid>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Title</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Slide No</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5124677"/>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Abstract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3</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1789016"/>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2</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Introduction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4</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3</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Literature Survey</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5</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614818"/>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4</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Objectives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7</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7283047"/>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5</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Problem Statement</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8</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1214994"/>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6</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Methodology </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9</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7</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Implementation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14</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8</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Results</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16</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1493505"/>
                  </a:ext>
                </a:extLst>
              </a:tr>
              <a:tr h="399867">
                <a:tc>
                  <a:txBody>
                    <a:bodyPr/>
                    <a:lstStyle/>
                    <a:p>
                      <a:pPr algn="ctr"/>
                      <a:r>
                        <a:rPr lang="en-US" sz="2100" dirty="0">
                          <a:solidFill>
                            <a:schemeClr val="tx1"/>
                          </a:solidFill>
                          <a:latin typeface="Times New Roman" panose="02020603050405020304" pitchFamily="18" charset="0"/>
                          <a:cs typeface="Times New Roman" panose="02020603050405020304" pitchFamily="18" charset="0"/>
                        </a:rPr>
                        <a:t>9</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Discussion</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19</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0965170"/>
                  </a:ext>
                </a:extLst>
              </a:tr>
              <a:tr h="399867">
                <a:tc>
                  <a:txBody>
                    <a:bodyPr/>
                    <a:lstStyle/>
                    <a:p>
                      <a:pPr algn="ctr"/>
                      <a:r>
                        <a:rPr lang="en-US" dirty="0"/>
                        <a:t>10</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US" sz="2100" dirty="0">
                          <a:solidFill>
                            <a:schemeClr val="tx1"/>
                          </a:solidFill>
                          <a:latin typeface="Times New Roman" panose="02020603050405020304" pitchFamily="18" charset="0"/>
                          <a:cs typeface="Times New Roman" panose="02020603050405020304" pitchFamily="18" charset="0"/>
                        </a:rPr>
                        <a:t>Conclusion and Future Work</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20</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99867">
                <a:tc>
                  <a:txBody>
                    <a:bodyPr/>
                    <a:lstStyle/>
                    <a:p>
                      <a:pPr algn="ctr"/>
                      <a:r>
                        <a:rPr lang="en-US" dirty="0"/>
                        <a:t>11</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solidFill>
                            <a:schemeClr val="tx1"/>
                          </a:solidFill>
                          <a:latin typeface="Times New Roman" panose="02020603050405020304" pitchFamily="18" charset="0"/>
                          <a:cs typeface="Times New Roman" panose="02020603050405020304" pitchFamily="18" charset="0"/>
                        </a:rPr>
                        <a:t>Reference</a:t>
                      </a: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2000">
                          <a:solidFill>
                            <a:srgbClr val="000000"/>
                          </a:solidFill>
                          <a:latin typeface="Times New Roman"/>
                        </a:rPr>
                        <a:t>21</a:t>
                      </a:r>
                      <a:endParaRPr lang="en-US" sz="2100" dirty="0">
                        <a:solidFill>
                          <a:schemeClr val="tx1"/>
                        </a:solidFill>
                        <a:latin typeface="Times New Roman" panose="02020603050405020304" pitchFamily="18" charset="0"/>
                        <a:cs typeface="Times New Roman" panose="02020603050405020304" pitchFamily="18" charset="0"/>
                      </a:endParaRPr>
                    </a:p>
                  </a:txBody>
                  <a:tcPr marL="104993" marR="104993" marT="52496" marB="5249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0150803"/>
                  </a:ext>
                </a:extLst>
              </a:tr>
            </a:tbl>
          </a:graphicData>
        </a:graphic>
      </p:graphicFrame>
      <p:sp>
        <p:nvSpPr>
          <p:cNvPr id="6" name="TextBox 5">
            <a:extLst>
              <a:ext uri="{FF2B5EF4-FFF2-40B4-BE49-F238E27FC236}">
                <a16:creationId xmlns:a16="http://schemas.microsoft.com/office/drawing/2014/main" id="{1F5BA4BE-F01B-5261-3DCF-E84C3FF0A644}"/>
              </a:ext>
            </a:extLst>
          </p:cNvPr>
          <p:cNvSpPr txBox="1"/>
          <p:nvPr/>
        </p:nvSpPr>
        <p:spPr>
          <a:xfrm>
            <a:off x="5211137" y="258278"/>
            <a:ext cx="1563248"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Contents</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F3C60A20-7E7E-C2CC-6B7F-D9052BC4E265}"/>
              </a:ext>
            </a:extLst>
          </p:cNvPr>
          <p:cNvSpPr>
            <a:spLocks noGrp="1"/>
          </p:cNvSpPr>
          <p:nvPr>
            <p:ph type="dt" sz="half" idx="10"/>
          </p:nvPr>
        </p:nvSpPr>
        <p:spPr/>
        <p:txBody>
          <a:bodyPr/>
          <a:lstStyle/>
          <a:p>
            <a:r>
              <a:rPr lang="en-US"/>
              <a:t>02/05/2026 </a:t>
            </a:r>
          </a:p>
        </p:txBody>
      </p:sp>
      <p:sp>
        <p:nvSpPr>
          <p:cNvPr id="7" name="Footer Placeholder 6">
            <a:extLst>
              <a:ext uri="{FF2B5EF4-FFF2-40B4-BE49-F238E27FC236}">
                <a16:creationId xmlns:a16="http://schemas.microsoft.com/office/drawing/2014/main" id="{9EF5AFCD-CF77-AC40-1C8F-EFB23A945929}"/>
              </a:ext>
            </a:extLst>
          </p:cNvPr>
          <p:cNvSpPr>
            <a:spLocks noGrp="1"/>
          </p:cNvSpPr>
          <p:nvPr>
            <p:ph type="ftr" sz="quarter" idx="11"/>
          </p:nvPr>
        </p:nvSpPr>
        <p:spPr/>
        <p:txBody>
          <a:bodyPr/>
          <a:lstStyle/>
          <a:p>
            <a:r>
              <a:rPr sz="1200">
                <a:solidFill>
                  <a:srgbClr val="898989"/>
                </a:solidFill>
                <a:latin typeface="Calibri"/>
              </a:rPr>
              <a:t>Reducing Hallucinations in Legal AI</a:t>
            </a:r>
          </a:p>
        </p:txBody>
      </p:sp>
      <p:sp>
        <p:nvSpPr>
          <p:cNvPr id="8" name="Slide Number Placeholder 7">
            <a:extLst>
              <a:ext uri="{FF2B5EF4-FFF2-40B4-BE49-F238E27FC236}">
                <a16:creationId xmlns:a16="http://schemas.microsoft.com/office/drawing/2014/main" id="{3DD7A8D9-AF1F-C484-3801-45A4C481D0FA}"/>
              </a:ext>
            </a:extLst>
          </p:cNvPr>
          <p:cNvSpPr>
            <a:spLocks noGrp="1"/>
          </p:cNvSpPr>
          <p:nvPr>
            <p:ph type="sldNum" sz="quarter" idx="12"/>
          </p:nvPr>
        </p:nvSpPr>
        <p:spPr/>
        <p:txBody>
          <a:bodyPr/>
          <a:lstStyle/>
          <a:p>
            <a:fld id="{5DA9DDE7-DF24-421B-8B5A-9F7A222497E2}" type="slidenum">
              <a:rPr lang="en-US" smtClean="0"/>
              <a:t>2</a:t>
            </a:fld>
            <a:endParaRPr lang="en-US"/>
          </a:p>
        </p:txBody>
      </p:sp>
    </p:spTree>
    <p:extLst>
      <p:ext uri="{BB962C8B-B14F-4D97-AF65-F5344CB8AC3E}">
        <p14:creationId xmlns:p14="http://schemas.microsoft.com/office/powerpoint/2010/main" val="23414891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0CCD1-8B62-C643-D2A8-5878CF0BD1D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04788D3-C1CE-2A1B-4469-7BA81C59C5F3}"/>
              </a:ext>
            </a:extLst>
          </p:cNvPr>
          <p:cNvSpPr/>
          <p:nvPr/>
        </p:nvSpPr>
        <p:spPr>
          <a:xfrm>
            <a:off x="-9831" y="0"/>
            <a:ext cx="274320" cy="6876288"/>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85C7F72-17F2-FE35-6291-F75C5B005D6F}"/>
              </a:ext>
            </a:extLst>
          </p:cNvPr>
          <p:cNvSpPr/>
          <p:nvPr/>
        </p:nvSpPr>
        <p:spPr>
          <a:xfrm rot="5400000">
            <a:off x="4945479" y="-4972257"/>
            <a:ext cx="274320" cy="10186749"/>
          </a:xfrm>
          <a:prstGeom prst="rect">
            <a:avLst/>
          </a:prstGeom>
          <a:solidFill>
            <a:srgbClr val="1D2E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nurag University Admission 2024 - 2025, Fees, Courses, Placements, Cutoff,  Ranking">
            <a:extLst>
              <a:ext uri="{FF2B5EF4-FFF2-40B4-BE49-F238E27FC236}">
                <a16:creationId xmlns:a16="http://schemas.microsoft.com/office/drawing/2014/main" id="{954A4294-4842-D7B6-CD4A-8AEB041ABF9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0702"/>
          <a:stretch>
            <a:fillRect/>
          </a:stretch>
        </p:blipFill>
        <p:spPr bwMode="auto">
          <a:xfrm>
            <a:off x="10899312" y="27235"/>
            <a:ext cx="1194366" cy="133750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5937D63-51F1-28D8-A3B8-07E47F6E84E3}"/>
              </a:ext>
            </a:extLst>
          </p:cNvPr>
          <p:cNvSpPr txBox="1"/>
          <p:nvPr/>
        </p:nvSpPr>
        <p:spPr>
          <a:xfrm>
            <a:off x="3954270" y="653143"/>
            <a:ext cx="4283480" cy="523220"/>
          </a:xfrm>
          <a:prstGeom prst="rect">
            <a:avLst/>
          </a:prstGeom>
          <a:noFill/>
        </p:spPr>
        <p:txBody>
          <a:bodyPr wrap="none" rtlCol="0">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References (IEEE Format)</a:t>
            </a: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3F14EFA-52DD-4642-D09C-9AD6D8F49C17}"/>
              </a:ext>
            </a:extLst>
          </p:cNvPr>
          <p:cNvSpPr txBox="1"/>
          <p:nvPr/>
        </p:nvSpPr>
        <p:spPr>
          <a:xfrm>
            <a:off x="549792" y="1353487"/>
            <a:ext cx="11001737" cy="3782061"/>
          </a:xfrm>
          <a:prstGeom prst="rect">
            <a:avLst/>
          </a:prstGeom>
          <a:noFill/>
        </p:spPr>
        <p:txBody>
          <a:bodyPr wrap="square">
            <a:spAutoFit/>
          </a:bodyPr>
          <a:lstStyle/>
          <a:p>
            <a:pPr lvl="0" algn="l">
              <a:lnSpc>
                <a:spcPct val="150000"/>
              </a:lnSpc>
              <a:spcAft>
                <a:spcPts val="600"/>
              </a:spcAft>
            </a:pPr>
            <a:r>
              <a:rPr sz="1400">
                <a:solidFill>
                  <a:srgbClr val="000000"/>
                </a:solidFill>
                <a:latin typeface="Times New Roman"/>
              </a:rPr>
              <a:t>[1]  Mata v. Avianca, Inc., No. 22-cv-1461 (PKC) (S.D.N.Y. 2023).</a:t>
            </a:r>
          </a:p>
          <a:p>
            <a:pPr algn="l">
              <a:spcAft>
                <a:spcPts val="600"/>
              </a:spcAft>
            </a:pPr>
            <a:r>
              <a:rPr sz="1400">
                <a:solidFill>
                  <a:srgbClr val="000000"/>
                </a:solidFill>
                <a:latin typeface="Times New Roman"/>
              </a:rPr>
              <a:t>[2]  V. Magesh et al., “Hallucination-free? Assessing the reliability of leading AI legal research tools”, Journal of Empirical Legal Studies, 2025.</a:t>
            </a:r>
          </a:p>
          <a:p>
            <a:pPr algn="l">
              <a:spcAft>
                <a:spcPts val="600"/>
              </a:spcAft>
            </a:pPr>
            <a:r>
              <a:rPr sz="1400">
                <a:solidFill>
                  <a:srgbClr val="000000"/>
                </a:solidFill>
                <a:latin typeface="Times New Roman"/>
              </a:rPr>
              <a:t>[3]  P. Lewis et al., “Retrieval-augmented generation for knowledge-intensive NLP tasks”, NeurIPS, 2020.</a:t>
            </a:r>
          </a:p>
          <a:p>
            <a:pPr algn="l">
              <a:spcAft>
                <a:spcPts val="600"/>
              </a:spcAft>
            </a:pPr>
            <a:r>
              <a:rPr sz="1400">
                <a:solidFill>
                  <a:srgbClr val="000000"/>
                </a:solidFill>
                <a:latin typeface="Times New Roman"/>
              </a:rPr>
              <a:t>[4]  M. Reuter et al., “Towards reliable retrieval in RAG systems for large legal datasets”, Proc. NLLP Workshop, 2025, pp. 17–30.</a:t>
            </a:r>
          </a:p>
          <a:p>
            <a:pPr algn="l">
              <a:spcAft>
                <a:spcPts val="600"/>
              </a:spcAft>
            </a:pPr>
            <a:r>
              <a:rPr sz="1400">
                <a:solidFill>
                  <a:srgbClr val="000000"/>
                </a:solidFill>
                <a:latin typeface="Times New Roman"/>
              </a:rPr>
              <a:t>[5]  A. Figueiredo et al., “Grounded in law: A multi-stage anti-hallucination pipeline for legal RAG systems in Brazilian Portuguese”, Proc. PROPOR, 2026.</a:t>
            </a:r>
          </a:p>
          <a:p>
            <a:pPr algn="l">
              <a:spcAft>
                <a:spcPts val="600"/>
              </a:spcAft>
            </a:pPr>
            <a:r>
              <a:rPr sz="1400">
                <a:solidFill>
                  <a:srgbClr val="000000"/>
                </a:solidFill>
                <a:latin typeface="Times New Roman"/>
              </a:rPr>
              <a:t>[6]  J. Maghakian et al., “Embedding-free RAG”, Findings of ACL: EMNLP 2025, pp. 24974–24985.</a:t>
            </a:r>
          </a:p>
          <a:p>
            <a:pPr algn="l">
              <a:spcAft>
                <a:spcPts val="600"/>
              </a:spcAft>
            </a:pPr>
            <a:r>
              <a:rPr sz="1400">
                <a:solidFill>
                  <a:srgbClr val="000000"/>
                </a:solidFill>
                <a:latin typeface="Times New Roman"/>
              </a:rPr>
              <a:t>[7]  C. Niu et al., “RAGTruth: A hallucination corpus for developing trustworthy retrieval-augmented language models”, Proc. ACL, 2024.</a:t>
            </a:r>
          </a:p>
          <a:p>
            <a:pPr algn="l">
              <a:spcAft>
                <a:spcPts val="600"/>
              </a:spcAft>
            </a:pPr>
            <a:r>
              <a:rPr sz="1400">
                <a:solidFill>
                  <a:srgbClr val="000000"/>
                </a:solidFill>
                <a:latin typeface="Times New Roman"/>
              </a:rPr>
              <a:t>[8]  N. Pipitone and G. H. Alami, “LegalBench-RAG: A benchmark for retrieval-augmented generation in the legal domain”, arXiv, 2024.</a:t>
            </a:r>
          </a:p>
          <a:p>
            <a:pPr algn="l">
              <a:spcAft>
                <a:spcPts val="600"/>
              </a:spcAft>
            </a:pPr>
            <a:r>
              <a:rPr sz="1400">
                <a:solidFill>
                  <a:srgbClr val="000000"/>
                </a:solidFill>
                <a:latin typeface="Times New Roman"/>
              </a:rPr>
              <a:t>[9]  Y. Koreeda and C. D. Manning, “ContractNLI: A dataset for document-level natural language inference for contracts”, Findings of EMNLP, 2021.</a:t>
            </a:r>
          </a:p>
          <a:p>
            <a:pPr algn="l">
              <a:spcAft>
                <a:spcPts val="600"/>
              </a:spcAft>
            </a:pPr>
            <a:r>
              <a:rPr sz="1400">
                <a:solidFill>
                  <a:srgbClr val="000000"/>
                </a:solidFill>
                <a:latin typeface="Times New Roman"/>
              </a:rPr>
              <a:t>[10] D. Hendrycks et al., “CUAD: An expert-annotated NLP dataset for legal contract review”, NeurIPS Datasets and Benchmarks, 2021.</a:t>
            </a:r>
          </a:p>
        </p:txBody>
      </p:sp>
      <p:sp>
        <p:nvSpPr>
          <p:cNvPr id="2" name="Date Placeholder 1">
            <a:extLst>
              <a:ext uri="{FF2B5EF4-FFF2-40B4-BE49-F238E27FC236}">
                <a16:creationId xmlns:a16="http://schemas.microsoft.com/office/drawing/2014/main" id="{930B0573-6C31-C0E4-8B9F-B3B219BE1E69}"/>
              </a:ext>
            </a:extLst>
          </p:cNvPr>
          <p:cNvSpPr>
            <a:spLocks noGrp="1"/>
          </p:cNvSpPr>
          <p:nvPr>
            <p:ph type="dt" sz="half" idx="10"/>
          </p:nvPr>
        </p:nvSpPr>
        <p:spPr/>
        <p:txBody>
          <a:bodyPr/>
          <a:lstStyle/>
          <a:p>
            <a:r>
              <a:rPr lang="en-US"/>
              <a:t>02/05/2026 </a:t>
            </a:r>
          </a:p>
        </p:txBody>
      </p:sp>
      <p:sp>
        <p:nvSpPr>
          <p:cNvPr id="3" name="Footer Placeholder 2">
            <a:extLst>
              <a:ext uri="{FF2B5EF4-FFF2-40B4-BE49-F238E27FC236}">
                <a16:creationId xmlns:a16="http://schemas.microsoft.com/office/drawing/2014/main" id="{F383E613-7143-08FF-4231-9E1F5622609F}"/>
              </a:ext>
            </a:extLst>
          </p:cNvPr>
          <p:cNvSpPr>
            <a:spLocks noGrp="1"/>
          </p:cNvSpPr>
          <p:nvPr>
            <p:ph type="ftr" sz="quarter" idx="11"/>
          </p:nvPr>
        </p:nvSpPr>
        <p:spPr/>
        <p:txBody>
          <a:bodyPr/>
          <a:lstStyle/>
          <a:p>
            <a:r>
              <a:rPr sz="1200">
                <a:solidFill>
                  <a:srgbClr val="898989"/>
                </a:solidFill>
                <a:latin typeface="Calibri"/>
              </a:rPr>
              <a:t>Reducing Hallucinations in Legal AI</a:t>
            </a:r>
          </a:p>
        </p:txBody>
      </p:sp>
      <p:sp>
        <p:nvSpPr>
          <p:cNvPr id="6" name="Slide Number Placeholder 5">
            <a:extLst>
              <a:ext uri="{FF2B5EF4-FFF2-40B4-BE49-F238E27FC236}">
                <a16:creationId xmlns:a16="http://schemas.microsoft.com/office/drawing/2014/main" id="{4E298E44-CCD0-5B87-3FF8-197508C1EAB3}"/>
              </a:ext>
            </a:extLst>
          </p:cNvPr>
          <p:cNvSpPr>
            <a:spLocks noGrp="1"/>
          </p:cNvSpPr>
          <p:nvPr>
            <p:ph type="sldNum" sz="quarter" idx="12"/>
          </p:nvPr>
        </p:nvSpPr>
        <p:spPr/>
        <p:txBody>
          <a:bodyPr/>
          <a:lstStyle/>
          <a:p>
            <a:fld id="{5DA9DDE7-DF24-421B-8B5A-9F7A222497E2}" type="slidenum">
              <a:rPr lang="en-US" smtClean="0"/>
              <a:t>3</a:t>
            </a:fld>
            <a:endParaRPr lang="en-US"/>
          </a:p>
        </p:txBody>
      </p:sp>
    </p:spTree>
    <p:extLst>
      <p:ext uri="{BB962C8B-B14F-4D97-AF65-F5344CB8AC3E}">
        <p14:creationId xmlns:p14="http://schemas.microsoft.com/office/powerpoint/2010/main" val="3467015308"/>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3</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Abstract</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Large language models answer legal questions fluently, but they sometimes cite provisions that do not exist, or state what a clause does not say — in legal work an unsupported answer is worse than no answer.</a:t>
            </a:r>
          </a:p>
          <a:p>
            <a:pPr algn="l">
              <a:spcAft>
                <a:spcPts val="800"/>
              </a:spcAft>
            </a:pPr>
            <a:r>
              <a:rPr sz="1800">
                <a:solidFill>
                  <a:srgbClr val="000000"/>
                </a:solidFill>
                <a:latin typeface="Times New Roman"/>
              </a:rPr>
              <a:t>• Retrieval-augmented generation (RAG) grounds answers in retrieved passages, but nothing checks the answer the model finally writes.</a:t>
            </a:r>
          </a:p>
          <a:p>
            <a:pPr algn="l">
              <a:spcAft>
                <a:spcPts val="800"/>
              </a:spcAft>
            </a:pPr>
            <a:r>
              <a:rPr sz="1800">
                <a:solidFill>
                  <a:srgbClr val="000000"/>
                </a:solidFill>
                <a:latin typeface="Times New Roman"/>
              </a:rPr>
              <a:t>• Legal AI: a question-answering system for statutes and contracts in which every answer is checked against its sources before the user sees it.</a:t>
            </a:r>
          </a:p>
          <a:p>
            <a:pPr algn="l">
              <a:spcAft>
                <a:spcPts val="800"/>
              </a:spcAft>
            </a:pPr>
            <a:r>
              <a:rPr sz="1600">
                <a:solidFill>
                  <a:srgbClr val="000000"/>
                </a:solidFill>
                <a:latin typeface="Times New Roman"/>
              </a:rPr>
              <a:t>   – Summary-augmented chunking (SAC) for statutes, paragraph chunking otherwise; embedded LanceDB hybrid index (dense + BM25), RRF fusion, cross-encoder reranking.</a:t>
            </a:r>
          </a:p>
          <a:p>
            <a:pPr algn="l">
              <a:spcAft>
                <a:spcPts val="800"/>
              </a:spcAft>
            </a:pPr>
            <a:r>
              <a:rPr sz="1600">
                <a:solidFill>
                  <a:srgbClr val="000000"/>
                </a:solidFill>
                <a:latin typeface="Times New Roman"/>
              </a:rPr>
              <a:t>   – Citation-forced generation: every claim must end with the id of the chunk that supports it.</a:t>
            </a:r>
          </a:p>
          <a:p>
            <a:pPr algn="l">
              <a:spcAft>
                <a:spcPts val="800"/>
              </a:spcAft>
            </a:pPr>
            <a:r>
              <a:rPr sz="1600">
                <a:solidFill>
                  <a:srgbClr val="000000"/>
                </a:solidFill>
                <a:latin typeface="Times New Roman"/>
              </a:rPr>
              <a:t>   – Six-layer verification chain (V1–V6) → Verification Confidence Score (VCS); the answer is shown only if VCS ≥ 0.60, with a proof of every claim.</a:t>
            </a:r>
          </a:p>
          <a:p>
            <a:pPr algn="l">
              <a:spcAft>
                <a:spcPts val="800"/>
              </a:spcAft>
            </a:pPr>
            <a:r>
              <a:rPr sz="1800">
                <a:solidFill>
                  <a:srgbClr val="000000"/>
                </a:solidFill>
                <a:latin typeface="Times New Roman"/>
              </a:rPr>
              <a:t>• Results: SAC raised retrieval F1 from 0.333 to 0.417; the full chain showed 0 of 28 corrupted claims (without the gate: all 28); in the end-to-end test no wrong answer was ever shown as verified.</a:t>
            </a:r>
          </a:p>
          <a:p>
            <a:pPr algn="l">
              <a:spcAft>
                <a:spcPts val="800"/>
              </a:spcAft>
            </a:pPr>
            <a:r>
              <a:rPr sz="1800">
                <a:solidFill>
                  <a:srgbClr val="000000"/>
                </a:solidFill>
                <a:latin typeface="Times New Roman"/>
              </a:rPr>
              <a:t>• Main weakness: false abstention — the system refuses some answerable questions; calibrating the gate is the most important next 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4</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Introduction</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Legal answers must be traceable: whether a tenant can be evicted or how long confidentiality lasts depends on the exact words of a statute or contract.</a:t>
            </a:r>
          </a:p>
          <a:p>
            <a:pPr algn="l">
              <a:spcAft>
                <a:spcPts val="800"/>
              </a:spcAft>
            </a:pPr>
            <a:r>
              <a:rPr sz="1800">
                <a:solidFill>
                  <a:srgbClr val="000000"/>
                </a:solidFill>
                <a:latin typeface="Times New Roman"/>
              </a:rPr>
              <a:t>• LLMs (GPT, Gemini, Claude) answer legal questions fluently — but fluency is not accuracy: they hallucinate.</a:t>
            </a:r>
          </a:p>
          <a:p>
            <a:pPr algn="l">
              <a:spcAft>
                <a:spcPts val="800"/>
              </a:spcAft>
            </a:pPr>
            <a:r>
              <a:rPr sz="1600">
                <a:solidFill>
                  <a:srgbClr val="000000"/>
                </a:solidFill>
                <a:latin typeface="Times New Roman"/>
              </a:rPr>
              <a:t>   – Mata v. Avianca (2023): two lawyers sanctioned for filing court decisions a chatbot invented [1].</a:t>
            </a:r>
          </a:p>
          <a:p>
            <a:pPr algn="l">
              <a:spcAft>
                <a:spcPts val="800"/>
              </a:spcAft>
            </a:pPr>
            <a:r>
              <a:rPr sz="1600">
                <a:solidFill>
                  <a:srgbClr val="000000"/>
                </a:solidFill>
                <a:latin typeface="Times New Roman"/>
              </a:rPr>
              <a:t>   – Even commercial legal research tools built on retrieval still hallucinate at a noticeable rate [2].</a:t>
            </a:r>
          </a:p>
          <a:p>
            <a:pPr algn="l">
              <a:spcAft>
                <a:spcPts val="800"/>
              </a:spcAft>
            </a:pPr>
            <a:r>
              <a:rPr sz="1800">
                <a:solidFill>
                  <a:srgbClr val="000000"/>
                </a:solidFill>
                <a:latin typeface="Times New Roman"/>
              </a:rPr>
              <a:t>• RAG [3] is the standard remedy, but it does not guarantee grounding: the model can misread a passage, combine passages wrongly, or cite a passage that does not support what it wrote.</a:t>
            </a:r>
          </a:p>
          <a:p>
            <a:pPr algn="l">
              <a:spcAft>
                <a:spcPts val="800"/>
              </a:spcAft>
            </a:pPr>
            <a:r>
              <a:rPr sz="1800">
                <a:solidFill>
                  <a:srgbClr val="000000"/>
                </a:solidFill>
                <a:latin typeface="Times New Roman"/>
              </a:rPr>
              <a:t>• Our goal: not another legal chatbot, but a system where verification is a required step — an answer reaches the user only after every claim is checked against the passage it cites, and the system refuses instead of guessing.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5</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Literature Survey</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RAG — Lewis et al. [3]: retrieve passages, then generate; no check on the final answer.</a:t>
            </a:r>
          </a:p>
          <a:p>
            <a:pPr algn="l">
              <a:spcAft>
                <a:spcPts val="800"/>
              </a:spcAft>
            </a:pPr>
            <a:r>
              <a:rPr sz="1800">
                <a:solidFill>
                  <a:srgbClr val="000000"/>
                </a:solidFill>
                <a:latin typeface="Times New Roman"/>
              </a:rPr>
              <a:t>• Chunking for legal text — Reuter et al. [4]: summary-augmented chunking (SAC) keeps document context, but uses an LLM-written summary per document.</a:t>
            </a:r>
          </a:p>
          <a:p>
            <a:pPr algn="l">
              <a:spcAft>
                <a:spcPts val="800"/>
              </a:spcAft>
            </a:pPr>
            <a:r>
              <a:rPr sz="1800">
                <a:solidFill>
                  <a:srgbClr val="000000"/>
                </a:solidFill>
                <a:latin typeface="Times New Roman"/>
              </a:rPr>
              <a:t>• Retrieval — Sentence-BERT embeddings [12]; BM25 keyword search; reciprocal rank fusion [13]; BGE cross-encoder reranker [14].</a:t>
            </a:r>
          </a:p>
          <a:p>
            <a:pPr algn="l">
              <a:spcAft>
                <a:spcPts val="800"/>
              </a:spcAft>
            </a:pPr>
            <a:r>
              <a:rPr sz="1800">
                <a:solidFill>
                  <a:srgbClr val="000000"/>
                </a:solidFill>
                <a:latin typeface="Times New Roman"/>
              </a:rPr>
              <a:t>• Hallucination detection:</a:t>
            </a:r>
          </a:p>
          <a:p>
            <a:pPr algn="l">
              <a:spcAft>
                <a:spcPts val="800"/>
              </a:spcAft>
            </a:pPr>
            <a:r>
              <a:rPr sz="1600">
                <a:solidFill>
                  <a:srgbClr val="000000"/>
                </a:solidFill>
                <a:latin typeface="Times New Roman"/>
              </a:rPr>
              <a:t>   – NLI entailment: roberta-large-mnli [15] trained on MultiNLI [16].</a:t>
            </a:r>
          </a:p>
          <a:p>
            <a:pPr algn="l">
              <a:spcAft>
                <a:spcPts val="800"/>
              </a:spcAft>
            </a:pPr>
            <a:r>
              <a:rPr sz="1600">
                <a:solidFill>
                  <a:srgbClr val="000000"/>
                </a:solidFill>
                <a:latin typeface="Times New Roman"/>
              </a:rPr>
              <a:t>   – FActScore [17]: split answers into atomic facts, check each one.</a:t>
            </a:r>
          </a:p>
          <a:p>
            <a:pPr algn="l">
              <a:spcAft>
                <a:spcPts val="800"/>
              </a:spcAft>
            </a:pPr>
            <a:r>
              <a:rPr sz="1600">
                <a:solidFill>
                  <a:srgbClr val="000000"/>
                </a:solidFill>
                <a:latin typeface="Times New Roman"/>
              </a:rPr>
              <a:t>   – SelfCheckGPT [18]: sample several answers; unstable claims are suspicious.</a:t>
            </a:r>
          </a:p>
          <a:p>
            <a:pPr algn="l">
              <a:spcAft>
                <a:spcPts val="800"/>
              </a:spcAft>
            </a:pPr>
            <a:r>
              <a:rPr sz="1800">
                <a:solidFill>
                  <a:srgbClr val="000000"/>
                </a:solidFill>
                <a:latin typeface="Times New Roman"/>
              </a:rPr>
              <a:t>• Legal systems and benchmarks — Figueiredo et al. [5] (citation audit), Maghakian et al. [6] (embedding-free RAG), RAGTruth [7], LegalBench-RAG [8]; datasets ContractNLI [9], CUAD [10], MAUD [11].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6</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Literature Survey – Research Gap</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Detection and prevention remain separate: detectors report scores offline, deployed systems show answers unchecked.</a:t>
            </a:r>
          </a:p>
          <a:p>
            <a:pPr algn="l">
              <a:spcAft>
                <a:spcPts val="800"/>
              </a:spcAft>
            </a:pPr>
            <a:r>
              <a:rPr sz="1800">
                <a:solidFill>
                  <a:srgbClr val="000000"/>
                </a:solidFill>
                <a:latin typeface="Times New Roman"/>
              </a:rPr>
              <a:t>• Gaps this project addresses:</a:t>
            </a:r>
          </a:p>
          <a:p>
            <a:pPr algn="l">
              <a:spcAft>
                <a:spcPts val="800"/>
              </a:spcAft>
            </a:pPr>
            <a:r>
              <a:rPr sz="1600">
                <a:solidFill>
                  <a:srgbClr val="000000"/>
                </a:solidFill>
                <a:latin typeface="Times New Roman"/>
              </a:rPr>
              <a:t>   – A gate that combines several complementary checks into one score and acts on it — not detectors that only report.</a:t>
            </a:r>
          </a:p>
          <a:p>
            <a:pPr algn="l">
              <a:spcAft>
                <a:spcPts val="800"/>
              </a:spcAft>
            </a:pPr>
            <a:r>
              <a:rPr sz="1600">
                <a:solidFill>
                  <a:srgbClr val="000000"/>
                </a:solidFill>
                <a:latin typeface="Times New Roman"/>
              </a:rPr>
              <a:t>   – A per-claim proof: the exact passage, the verdict of every check, the claim's contribution to the score.</a:t>
            </a:r>
          </a:p>
          <a:p>
            <a:pPr algn="l">
              <a:spcAft>
                <a:spcPts val="800"/>
              </a:spcAft>
            </a:pPr>
            <a:r>
              <a:rPr sz="1600">
                <a:solidFill>
                  <a:srgbClr val="000000"/>
                </a:solidFill>
                <a:latin typeface="Times New Roman"/>
              </a:rPr>
              <a:t>   – Structure-aware chunking for statutes without a model call per document, with a fallback for unstructured contracts.</a:t>
            </a:r>
          </a:p>
          <a:p>
            <a:pPr algn="l">
              <a:spcAft>
                <a:spcPts val="800"/>
              </a:spcAft>
            </a:pPr>
            <a:r>
              <a:rPr sz="1600">
                <a:solidFill>
                  <a:srgbClr val="000000"/>
                </a:solidFill>
                <a:latin typeface="Times New Roman"/>
              </a:rPr>
              <a:t>   – Honest refusal when evidence is insufficient — general-concept answers allowed, but clearly labelled as unverified.</a:t>
            </a:r>
          </a:p>
          <a:p>
            <a:pPr algn="l">
              <a:spcAft>
                <a:spcPts val="800"/>
              </a:spcAft>
            </a:pPr>
            <a:r>
              <a:rPr sz="1600">
                <a:solidFill>
                  <a:srgbClr val="000000"/>
                </a:solidFill>
                <a:latin typeface="Times New Roman"/>
              </a:rPr>
              <a:t>   – Measured evidence of what each part contributes (ablations, real-document tests), not one headline accuracy figure.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7</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Objectives</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Build an ingestion pipeline for PDF and text documents: detect statute structure, apply SAC where possible and paragraph chunking otherwise, reject duplicate uploads.</a:t>
            </a:r>
          </a:p>
          <a:p>
            <a:pPr algn="l">
              <a:spcAft>
                <a:spcPts val="800"/>
              </a:spcAft>
            </a:pPr>
            <a:r>
              <a:rPr sz="1800">
                <a:solidFill>
                  <a:srgbClr val="000000"/>
                </a:solidFill>
                <a:latin typeface="Times New Roman"/>
              </a:rPr>
              <a:t>• Implement hybrid retrieval (dense vectors + BM25) with rank fusion and cross-encoder reranking over a single embedded index.</a:t>
            </a:r>
          </a:p>
          <a:p>
            <a:pPr algn="l">
              <a:spcAft>
                <a:spcPts val="800"/>
              </a:spcAft>
            </a:pPr>
            <a:r>
              <a:rPr sz="1800">
                <a:solidFill>
                  <a:srgbClr val="000000"/>
                </a:solidFill>
                <a:latin typeface="Times New Roman"/>
              </a:rPr>
              <a:t>• Implement citation-forced generation that works with several LLM providers (Groq, Gemini, OpenAI, Anthropic).</a:t>
            </a:r>
          </a:p>
          <a:p>
            <a:pPr algn="l">
              <a:spcAft>
                <a:spcPts val="800"/>
              </a:spcAft>
            </a:pPr>
            <a:r>
              <a:rPr sz="1800">
                <a:solidFill>
                  <a:srgbClr val="000000"/>
                </a:solidFill>
                <a:latin typeface="Times New Roman"/>
              </a:rPr>
              <a:t>• Design and implement the V1–V6 verification chain, the Verification Confidence Score and the abstention gate.</a:t>
            </a:r>
          </a:p>
          <a:p>
            <a:pPr algn="l">
              <a:spcAft>
                <a:spcPts val="800"/>
              </a:spcAft>
            </a:pPr>
            <a:r>
              <a:rPr sz="1800">
                <a:solidFill>
                  <a:srgbClr val="000000"/>
                </a:solidFill>
                <a:latin typeface="Times New Roman"/>
              </a:rPr>
              <a:t>• Provide a web interface in which every answer carries a verdict, a score and a proof.</a:t>
            </a:r>
          </a:p>
          <a:p>
            <a:pPr algn="l">
              <a:spcAft>
                <a:spcPts val="800"/>
              </a:spcAft>
            </a:pPr>
            <a:r>
              <a:rPr sz="1800">
                <a:solidFill>
                  <a:srgbClr val="000000"/>
                </a:solidFill>
                <a:latin typeface="Times New Roman"/>
              </a:rPr>
              <a:t>• Evaluate with ablation experiments and an end-to-end test on real documents — and report the results honestly, including failures.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8</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Problem Statement</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Existing legal RAG systems ground answers in retrieved documents, but:</a:t>
            </a:r>
          </a:p>
          <a:p>
            <a:pPr algn="l">
              <a:spcAft>
                <a:spcPts val="800"/>
              </a:spcAft>
            </a:pPr>
            <a:r>
              <a:rPr sz="1600">
                <a:solidFill>
                  <a:srgbClr val="000000"/>
                </a:solidFill>
                <a:latin typeface="Times New Roman"/>
              </a:rPr>
              <a:t>   – Unverified answers: the model's answer is shown as-is, even when a claim is unsupported or cites a passage that was never retrieved.</a:t>
            </a:r>
          </a:p>
          <a:p>
            <a:pPr algn="l">
              <a:spcAft>
                <a:spcPts val="800"/>
              </a:spcAft>
            </a:pPr>
            <a:r>
              <a:rPr sz="1600">
                <a:solidFill>
                  <a:srgbClr val="000000"/>
                </a:solidFill>
                <a:latin typeface="Times New Roman"/>
              </a:rPr>
              <a:t>   – Loss of legal context in chunking: fixed-size chunks cut a clause away from the section that gives it meaning.</a:t>
            </a:r>
          </a:p>
          <a:p>
            <a:pPr algn="l">
              <a:spcAft>
                <a:spcPts val="800"/>
              </a:spcAft>
            </a:pPr>
            <a:r>
              <a:rPr sz="1600">
                <a:solidFill>
                  <a:srgbClr val="000000"/>
                </a:solidFill>
                <a:latin typeface="Times New Roman"/>
              </a:rPr>
              <a:t>   – No evidence for the reader: users are not shown which passage supports which sentence.</a:t>
            </a:r>
          </a:p>
          <a:p>
            <a:pPr algn="l">
              <a:spcAft>
                <a:spcPts val="800"/>
              </a:spcAft>
            </a:pPr>
            <a:r>
              <a:rPr sz="1600">
                <a:solidFill>
                  <a:srgbClr val="000000"/>
                </a:solidFill>
                <a:latin typeface="Times New Roman"/>
              </a:rPr>
              <a:t>   – Guessing instead of refusing: when the documents do not contain an answer, systems answer anyway.</a:t>
            </a:r>
          </a:p>
          <a:p>
            <a:pPr algn="l">
              <a:spcAft>
                <a:spcPts val="800"/>
              </a:spcAft>
            </a:pPr>
            <a:r>
              <a:rPr sz="1800">
                <a:solidFill>
                  <a:srgbClr val="000000"/>
                </a:solidFill>
                <a:latin typeface="Times New Roman"/>
              </a:rPr>
              <a:t>• Need: a system that (1) retrieves the right passages with structure-aware chunking and hybrid search, (2) forces the model to cite them, (3) checks every claim through complementary verification layers combined into one confidence score, and (4) shows the answer only when the score is high enough — with an inspectable proof — and refuses otherwise.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9</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Methodology – System Architecture</a:t>
            </a:r>
          </a:p>
        </p:txBody>
      </p:sp>
      <p:pic>
        <p:nvPicPr>
          <p:cNvPr id="9" name="Picture 8" descr="page15_fig.png"/>
          <p:cNvPicPr>
            <a:picLocks noChangeAspect="1"/>
          </p:cNvPicPr>
          <p:nvPr/>
        </p:nvPicPr>
        <p:blipFill>
          <a:blip r:embed="rId3"/>
          <a:stretch>
            <a:fillRect/>
          </a:stretch>
        </p:blipFill>
        <p:spPr>
          <a:xfrm>
            <a:off x="3000000" y="1300000"/>
            <a:ext cx="6200000" cy="4117948"/>
          </a:xfrm>
          <a:prstGeom prst="rect">
            <a:avLst/>
          </a:prstGeom>
        </p:spPr>
      </p:pic>
      <p:sp>
        <p:nvSpPr>
          <p:cNvPr id="10" name="TextBox 9"/>
          <p:cNvSpPr txBox="1"/>
          <p:nvPr/>
        </p:nvSpPr>
        <p:spPr>
          <a:xfrm>
            <a:off x="600000" y="5550000"/>
            <a:ext cx="10900000" cy="700000"/>
          </a:xfrm>
          <a:prstGeom prst="rect">
            <a:avLst/>
          </a:prstGeom>
          <a:noFill/>
        </p:spPr>
        <p:txBody>
          <a:bodyPr wrap="square">
            <a:spAutoFit/>
          </a:bodyPr>
          <a:lstStyle/>
          <a:p>
            <a:pPr algn="l">
              <a:spcAft>
                <a:spcPts val="800"/>
              </a:spcAft>
            </a:pPr>
            <a:r>
              <a:rPr sz="1400">
                <a:solidFill>
                  <a:srgbClr val="000000"/>
                </a:solidFill>
                <a:latin typeface="Times New Roman"/>
              </a:rPr>
              <a:t>• React web interface → FastAPI backend → pipeline modules → embedded LanceDB index; LLM via provider adapter; embedding, reranking and NLI models run locally.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10</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Methodology – Ingestion and Adaptive Chunking</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Upload → SHA-256 fingerprint: duplicates are refused, so the index never holds a document twice.</a:t>
            </a:r>
          </a:p>
          <a:p>
            <a:pPr algn="l">
              <a:spcAft>
                <a:spcPts val="800"/>
              </a:spcAft>
            </a:pPr>
            <a:r>
              <a:rPr sz="1800">
                <a:solidFill>
                  <a:srgbClr val="000000"/>
                </a:solidFill>
                <a:latin typeface="Times New Roman"/>
              </a:rPr>
              <a:t>• Text extracted with pypdf (PDF) or read directly; whitespace normalised without disturbing headings.</a:t>
            </a:r>
          </a:p>
          <a:p>
            <a:pPr algn="l">
              <a:spcAft>
                <a:spcPts val="800"/>
              </a:spcAft>
            </a:pPr>
            <a:r>
              <a:rPr sz="1800">
                <a:solidFill>
                  <a:srgbClr val="000000"/>
                </a:solidFill>
                <a:latin typeface="Times New Roman"/>
              </a:rPr>
              <a:t>• Statutes (Act / Chapter / Section / Clause detected) → Summary-Augmented Chunking:</a:t>
            </a:r>
          </a:p>
          <a:p>
            <a:pPr algn="l">
              <a:spcAft>
                <a:spcPts val="800"/>
              </a:spcAft>
            </a:pPr>
            <a:r>
              <a:rPr sz="1600">
                <a:solidFill>
                  <a:srgbClr val="000000"/>
                </a:solidFill>
                <a:latin typeface="Times New Roman"/>
              </a:rPr>
              <a:t>   – One chunk per section body and per clause; each chunk carries an extractive summary (section heading + first sentence) embedded with its text.</a:t>
            </a:r>
          </a:p>
          <a:p>
            <a:pPr algn="l">
              <a:spcAft>
                <a:spcPts val="800"/>
              </a:spcAft>
            </a:pPr>
            <a:r>
              <a:rPr sz="1600">
                <a:solidFill>
                  <a:srgbClr val="000000"/>
                </a:solidFill>
                <a:latin typeface="Times New Roman"/>
              </a:rPr>
              <a:t>   – “Within thirty days” is found together with the rule it belongs to — no LLM call at ingestion (unlike original SAC [4]).</a:t>
            </a:r>
          </a:p>
          <a:p>
            <a:pPr algn="l">
              <a:spcAft>
                <a:spcPts val="800"/>
              </a:spcAft>
            </a:pPr>
            <a:r>
              <a:rPr sz="1800">
                <a:solidFill>
                  <a:srgbClr val="000000"/>
                </a:solidFill>
                <a:latin typeface="Times New Roman"/>
              </a:rPr>
              <a:t>• Contracts (no structure) → paragraph chunking: split at blank lines, long paragraphs packed into ≤ 700-character windows.</a:t>
            </a:r>
          </a:p>
          <a:p>
            <a:pPr algn="l">
              <a:spcAft>
                <a:spcPts val="800"/>
              </a:spcAft>
            </a:pPr>
            <a:r>
              <a:rPr sz="1800">
                <a:solidFill>
                  <a:srgbClr val="000000"/>
                </a:solidFill>
                <a:latin typeface="Times New Roman"/>
              </a:rPr>
              <a:t>• Chunk ids double as citation tokens: urban_tenancy_act_2019::s7:a (section 7, clause a) · NDA_7::p21 (paragraph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11</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Methodology – Hybrid Retrieval and Reranking</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Chunks embedded with all-MiniLM-L6-v2 (384-d, normalised); stored in LanceDB — dense vectors + BM25 full-text index in one on-disk table, no database server.</a:t>
            </a:r>
          </a:p>
          <a:p>
            <a:pPr algn="l">
              <a:spcAft>
                <a:spcPts val="800"/>
              </a:spcAft>
            </a:pPr>
            <a:r>
              <a:rPr sz="1800">
                <a:solidFill>
                  <a:srgbClr val="000000"/>
                </a:solidFill>
                <a:latin typeface="Times New Roman"/>
              </a:rPr>
              <a:t>• A question is searched in both indexes; rankings merged with Reciprocal Rank Fusion:</a:t>
            </a:r>
          </a:p>
          <a:p>
            <a:pPr algn="l">
              <a:spcAft>
                <a:spcPts val="800"/>
              </a:spcAft>
            </a:pPr>
            <a:r>
              <a:rPr sz="1600">
                <a:solidFill>
                  <a:srgbClr val="000000"/>
                </a:solidFill>
                <a:latin typeface="Times New Roman"/>
              </a:rPr>
              <a:t>   – score(d) = Σ 1 / (60 + rankᵢ(d)) — a chunk ranked well in both lists wins.</a:t>
            </a:r>
          </a:p>
          <a:p>
            <a:pPr algn="l">
              <a:spcAft>
                <a:spcPts val="800"/>
              </a:spcAft>
            </a:pPr>
            <a:r>
              <a:rPr sz="1800">
                <a:solidFill>
                  <a:srgbClr val="000000"/>
                </a:solidFill>
                <a:latin typeface="Times New Roman"/>
              </a:rPr>
              <a:t>• Fused candidates rescored by the BAAI/bge-reranker-base cross-encoder (question + passage read together); top k = 12 kept for the prompt.</a:t>
            </a:r>
          </a:p>
          <a:p>
            <a:pPr algn="l">
              <a:spcAft>
                <a:spcPts val="800"/>
              </a:spcAft>
            </a:pPr>
            <a:r>
              <a:rPr sz="1800">
                <a:solidFill>
                  <a:srgbClr val="000000"/>
                </a:solidFill>
                <a:latin typeface="Times New Roman"/>
              </a:rPr>
              <a:t>• Candidate pool deliberately large (≥ 100): the reranker can only promote what the first stage returned — a too-small pool caused silent failures on real contracts.</a:t>
            </a:r>
          </a:p>
          <a:p>
            <a:pPr algn="l">
              <a:spcAft>
                <a:spcPts val="800"/>
              </a:spcAft>
            </a:pPr>
            <a:r>
              <a:rPr sz="1800">
                <a:solidFill>
                  <a:srgbClr val="000000"/>
                </a:solidFill>
                <a:latin typeface="Times New Roman"/>
              </a:rPr>
              <a:t>• Cost measured honestly: reranking adds 6.7–12.8 s per question on a laptop CPU.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12</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Methodology – Citation-Forced Generation</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Retrieved chunks placed in the prompt, each labelled with its id. Strict rules:</a:t>
            </a:r>
          </a:p>
          <a:p>
            <a:pPr algn="l">
              <a:spcAft>
                <a:spcPts val="800"/>
              </a:spcAft>
            </a:pPr>
            <a:r>
              <a:rPr sz="1600">
                <a:solidFill>
                  <a:srgbClr val="000000"/>
                </a:solidFill>
                <a:latin typeface="Times New Roman"/>
              </a:rPr>
              <a:t>   – Use ONLY the supplied passages — never prior knowledge.</a:t>
            </a:r>
          </a:p>
          <a:p>
            <a:pPr algn="l">
              <a:spcAft>
                <a:spcPts val="800"/>
              </a:spcAft>
            </a:pPr>
            <a:r>
              <a:rPr sz="1600">
                <a:solidFill>
                  <a:srgbClr val="000000"/>
                </a:solidFill>
                <a:latin typeface="Times New Roman"/>
              </a:rPr>
              <a:t>   – One claim per line; every line ends with the id(s) of the chunk(s) that support it: [urban_tenancy_act_2019::s4:b].</a:t>
            </a:r>
          </a:p>
          <a:p>
            <a:pPr algn="l">
              <a:spcAft>
                <a:spcPts val="800"/>
              </a:spcAft>
            </a:pPr>
            <a:r>
              <a:rPr sz="1600">
                <a:solidFill>
                  <a:srgbClr val="000000"/>
                </a:solidFill>
                <a:latin typeface="Times New Roman"/>
              </a:rPr>
              <a:t>   – If the passages cannot answer: reply with a line starting INSUFFICIENT_CONTEXT.</a:t>
            </a:r>
          </a:p>
          <a:p>
            <a:pPr algn="l">
              <a:spcAft>
                <a:spcPts val="800"/>
              </a:spcAft>
            </a:pPr>
            <a:r>
              <a:rPr sz="1800">
                <a:solidFill>
                  <a:srgbClr val="000000"/>
                </a:solidFill>
                <a:latin typeface="Times New Roman"/>
              </a:rPr>
              <a:t>• A deterministic parser maps every claim back to its cited evidence — no guessing about which sentence rests on which source.</a:t>
            </a:r>
          </a:p>
          <a:p>
            <a:pPr algn="l">
              <a:spcAft>
                <a:spcPts val="800"/>
              </a:spcAft>
            </a:pPr>
            <a:r>
              <a:rPr sz="1800">
                <a:solidFill>
                  <a:srgbClr val="000000"/>
                </a:solidFill>
                <a:latin typeface="Times New Roman"/>
              </a:rPr>
              <a:t>• Provider adapter: Groq, Gemini, OpenAI or Claude selected by one environment variable; the web interface uses openai/gpt-oss-120b served by Groq.</a:t>
            </a:r>
          </a:p>
          <a:p>
            <a:pPr algn="l">
              <a:spcAft>
                <a:spcPts val="800"/>
              </a:spcAft>
            </a:pPr>
            <a:r>
              <a:rPr sz="1800">
                <a:solidFill>
                  <a:srgbClr val="000000"/>
                </a:solidFill>
                <a:latin typeface="Times New Roman"/>
              </a:rPr>
              <a:t>• General-concept questions (“What is an indemnity clause?”) declined by the gate are answered from model knowledge — labelled “General knowledge”, no citations, no score.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13</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Methodology – Verification Chain (V1–V6)</a:t>
            </a:r>
          </a:p>
        </p:txBody>
      </p:sp>
      <p:pic>
        <p:nvPicPr>
          <p:cNvPr id="9" name="Picture 8" descr="page18_fig.png"/>
          <p:cNvPicPr>
            <a:picLocks noChangeAspect="1"/>
          </p:cNvPicPr>
          <p:nvPr/>
        </p:nvPicPr>
        <p:blipFill>
          <a:blip r:embed="rId3"/>
          <a:stretch>
            <a:fillRect/>
          </a:stretch>
        </p:blipFill>
        <p:spPr>
          <a:xfrm>
            <a:off x="6800000" y="1300000"/>
            <a:ext cx="4700000" cy="3520204"/>
          </a:xfrm>
          <a:prstGeom prst="rect">
            <a:avLst/>
          </a:prstGeom>
        </p:spPr>
      </p:pic>
      <p:sp>
        <p:nvSpPr>
          <p:cNvPr id="10" name="TextBox 9"/>
          <p:cNvSpPr txBox="1"/>
          <p:nvPr/>
        </p:nvSpPr>
        <p:spPr>
          <a:xfrm>
            <a:off x="550000" y="1400000"/>
            <a:ext cx="6100000" cy="4700000"/>
          </a:xfrm>
          <a:prstGeom prst="rect">
            <a:avLst/>
          </a:prstGeom>
          <a:noFill/>
        </p:spPr>
        <p:txBody>
          <a:bodyPr wrap="square">
            <a:spAutoFit/>
          </a:bodyPr>
          <a:lstStyle/>
          <a:p>
            <a:pPr algn="l">
              <a:spcAft>
                <a:spcPts val="800"/>
              </a:spcAft>
            </a:pPr>
            <a:r>
              <a:rPr sz="1600">
                <a:solidFill>
                  <a:srgbClr val="000000"/>
                </a:solidFill>
                <a:latin typeface="Times New Roman"/>
              </a:rPr>
              <a:t>• V1 Citation existence — cited id must be a retrieved chunk (hard gate).</a:t>
            </a:r>
          </a:p>
          <a:p>
            <a:pPr algn="l">
              <a:spcAft>
                <a:spcPts val="800"/>
              </a:spcAft>
            </a:pPr>
            <a:r>
              <a:rPr sz="1600">
                <a:solidFill>
                  <a:srgbClr val="000000"/>
                </a:solidFill>
                <a:latin typeface="Times New Roman"/>
              </a:rPr>
              <a:t>• V2 Entailment — roberta-large-mnli: passage ⊨ claim? CONTRADICTS = hard gate.</a:t>
            </a:r>
          </a:p>
          <a:p>
            <a:pPr algn="l">
              <a:spcAft>
                <a:spcPts val="800"/>
              </a:spcAft>
            </a:pPr>
            <a:r>
              <a:rPr sz="1600">
                <a:solidFill>
                  <a:srgbClr val="000000"/>
                </a:solidFill>
                <a:latin typeface="Times New Roman"/>
              </a:rPr>
              <a:t>• V3 Atomic fidelity — claim split into atomic facts; fraction entailed.</a:t>
            </a:r>
          </a:p>
          <a:p>
            <a:pPr algn="l">
              <a:spcAft>
                <a:spcPts val="800"/>
              </a:spcAft>
            </a:pPr>
            <a:r>
              <a:rPr sz="1600">
                <a:solidFill>
                  <a:srgbClr val="000000"/>
                </a:solidFill>
                <a:latin typeface="Times New Roman"/>
              </a:rPr>
              <a:t>• V4 Self-consistency (optional) — regenerate; unstable claims suspicious.</a:t>
            </a:r>
          </a:p>
          <a:p>
            <a:pPr algn="l">
              <a:spcAft>
                <a:spcPts val="800"/>
              </a:spcAft>
            </a:pPr>
            <a:r>
              <a:rPr sz="1600">
                <a:solidFill>
                  <a:srgbClr val="000000"/>
                </a:solidFill>
                <a:latin typeface="Times New Roman"/>
              </a:rPr>
              <a:t>• V5 Score and gate — s = (0.40e + 0.35f + 0.25c) / Σ weights run;</a:t>
            </a:r>
          </a:p>
          <a:p>
            <a:pPr algn="l">
              <a:spcAft>
                <a:spcPts val="800"/>
              </a:spcAft>
            </a:pPr>
            <a:r>
              <a:rPr sz="1400">
                <a:solidFill>
                  <a:srgbClr val="000000"/>
                </a:solidFill>
                <a:latin typeface="Times New Roman"/>
              </a:rPr>
              <a:t>   – VCS = mean claim score; show only if VCS ≥ 0.60, else abstain.</a:t>
            </a:r>
          </a:p>
          <a:p>
            <a:pPr algn="l">
              <a:spcAft>
                <a:spcPts val="800"/>
              </a:spcAft>
            </a:pPr>
            <a:r>
              <a:rPr sz="1600">
                <a:solidFill>
                  <a:srgbClr val="000000"/>
                </a:solidFill>
                <a:latin typeface="Times New Roman"/>
              </a:rPr>
              <a:t>• V6 Proof object — quoted span + every verdict, per claim, shown to the user.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14</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Implementation – Technologies and Modules</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800">
                <a:solidFill>
                  <a:srgbClr val="000000"/>
                </a:solidFill>
                <a:latin typeface="Times New Roman"/>
              </a:rPr>
              <a:t>• Python 3.11 · FastAPI + Uvicorn · LangChain (LCEL pipeline; loaders, splitters, LanceDB vector store, ensemble retriever) · React 18 + Vite + Tailwind CSS.</a:t>
            </a:r>
          </a:p>
          <a:p>
            <a:pPr algn="l">
              <a:spcAft>
                <a:spcPts val="800"/>
              </a:spcAft>
            </a:pPr>
            <a:r>
              <a:rPr sz="1800">
                <a:solidFill>
                  <a:srgbClr val="000000"/>
                </a:solidFill>
                <a:latin typeface="Times New Roman"/>
              </a:rPr>
              <a:t>• Models: all-MiniLM-L6-v2 (embeddings) · BAAI/bge-reranker-base (reranking) · roberta-large-mnli (entailment) — all local, CPU-only; LLM via API.</a:t>
            </a:r>
          </a:p>
          <a:p>
            <a:pPr algn="l">
              <a:spcAft>
                <a:spcPts val="800"/>
              </a:spcAft>
            </a:pPr>
            <a:r>
              <a:rPr sz="1800">
                <a:solidFill>
                  <a:srgbClr val="000000"/>
                </a:solidFill>
                <a:latin typeface="Times New Roman"/>
              </a:rPr>
              <a:t>• Modular pipeline — ingestion, chunking, embedding/index, retrieval, generation, verification, API, chat store, evaluation, web UI; stages communicate through plain data.</a:t>
            </a:r>
          </a:p>
          <a:p>
            <a:pPr algn="l">
              <a:spcAft>
                <a:spcPts val="800"/>
              </a:spcAft>
            </a:pPr>
            <a:r>
              <a:rPr sz="1800">
                <a:solidFill>
                  <a:srgbClr val="000000"/>
                </a:solidFill>
                <a:latin typeface="Times New Roman"/>
              </a:rPr>
              <a:t>• Two implementations: plain Python (src/) and LangChain (lc/, default) — chunking and verification remain our own code in both.</a:t>
            </a:r>
          </a:p>
          <a:p>
            <a:pPr algn="l">
              <a:spcAft>
                <a:spcPts val="800"/>
              </a:spcAft>
            </a:pPr>
            <a:r>
              <a:rPr sz="1800">
                <a:solidFill>
                  <a:srgbClr val="000000"/>
                </a:solidFill>
                <a:latin typeface="Times New Roman"/>
              </a:rPr>
              <a:t>• Testing: 263 + 113 automated tests (stand-in models — no downloads or keys needed); Playwright drives the real browser for the end-to-end test.</a:t>
            </a:r>
          </a:p>
          <a:p>
            <a:pPr algn="l">
              <a:spcAft>
                <a:spcPts val="800"/>
              </a:spcAft>
            </a:pPr>
            <a:r>
              <a:rPr sz="1800">
                <a:solidFill>
                  <a:srgbClr val="000000"/>
                </a:solidFill>
                <a:latin typeface="Times New Roman"/>
              </a:rPr>
              <a:t>• Phased build (phases 0–8), each with definition of done; every change committed with tests passing.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15</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Implementation – Web Application</a:t>
            </a:r>
          </a:p>
        </p:txBody>
      </p:sp>
      <p:pic>
        <p:nvPicPr>
          <p:cNvPr id="9" name="Picture 8" descr="page30_fig1.png"/>
          <p:cNvPicPr>
            <a:picLocks noChangeAspect="1"/>
          </p:cNvPicPr>
          <p:nvPr/>
        </p:nvPicPr>
        <p:blipFill>
          <a:blip r:embed="rId3"/>
          <a:stretch>
            <a:fillRect/>
          </a:stretch>
        </p:blipFill>
        <p:spPr>
          <a:xfrm>
            <a:off x="550000" y="1350000"/>
            <a:ext cx="5500000" cy="4307656"/>
          </a:xfrm>
          <a:prstGeom prst="rect">
            <a:avLst/>
          </a:prstGeom>
        </p:spPr>
      </p:pic>
      <p:pic>
        <p:nvPicPr>
          <p:cNvPr id="10" name="Picture 9" descr="page31_fig2.png"/>
          <p:cNvPicPr>
            <a:picLocks noChangeAspect="1"/>
          </p:cNvPicPr>
          <p:nvPr/>
        </p:nvPicPr>
        <p:blipFill>
          <a:blip r:embed="rId4"/>
          <a:stretch>
            <a:fillRect/>
          </a:stretch>
        </p:blipFill>
        <p:spPr>
          <a:xfrm>
            <a:off x="6300000" y="1350000"/>
            <a:ext cx="5500000" cy="4259325"/>
          </a:xfrm>
          <a:prstGeom prst="rect">
            <a:avLst/>
          </a:prstGeom>
        </p:spPr>
      </p:pic>
      <p:sp>
        <p:nvSpPr>
          <p:cNvPr id="11" name="TextBox 10"/>
          <p:cNvSpPr txBox="1"/>
          <p:nvPr/>
        </p:nvSpPr>
        <p:spPr>
          <a:xfrm>
            <a:off x="600000" y="5500000"/>
            <a:ext cx="10900000" cy="800000"/>
          </a:xfrm>
          <a:prstGeom prst="rect">
            <a:avLst/>
          </a:prstGeom>
          <a:noFill/>
        </p:spPr>
        <p:txBody>
          <a:bodyPr wrap="square">
            <a:spAutoFit/>
          </a:bodyPr>
          <a:lstStyle/>
          <a:p>
            <a:pPr algn="l">
              <a:spcAft>
                <a:spcPts val="800"/>
              </a:spcAft>
            </a:pPr>
            <a:r>
              <a:rPr sz="1400">
                <a:solidFill>
                  <a:srgbClr val="000000"/>
                </a:solidFill>
                <a:latin typeface="Times New Roman"/>
              </a:rPr>
              <a:t>• Five pages: Home, Ingest, Ask (badge + VCS + clickable proofs), Search (dense vs keyword vs hybrid), Evaluation (embedding map + logged experiments). Left: Home. Right: a verified answer with its proof open.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16</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Results – Retrieval and Chunking</a:t>
            </a:r>
          </a:p>
        </p:txBody>
      </p:sp>
      <p:pic>
        <p:nvPicPr>
          <p:cNvPr id="9" name="Picture 8" descr="page35_fig.png"/>
          <p:cNvPicPr>
            <a:picLocks noChangeAspect="1"/>
          </p:cNvPicPr>
          <p:nvPr/>
        </p:nvPicPr>
        <p:blipFill>
          <a:blip r:embed="rId3"/>
          <a:stretch>
            <a:fillRect/>
          </a:stretch>
        </p:blipFill>
        <p:spPr>
          <a:xfrm>
            <a:off x="6700000" y="1400000"/>
            <a:ext cx="4900000" cy="3534336"/>
          </a:xfrm>
          <a:prstGeom prst="rect">
            <a:avLst/>
          </a:prstGeom>
        </p:spPr>
      </p:pic>
      <p:sp>
        <p:nvSpPr>
          <p:cNvPr id="10" name="TextBox 9"/>
          <p:cNvSpPr txBox="1"/>
          <p:nvPr/>
        </p:nvSpPr>
        <p:spPr>
          <a:xfrm>
            <a:off x="550000" y="1400000"/>
            <a:ext cx="6000000" cy="4700000"/>
          </a:xfrm>
          <a:prstGeom prst="rect">
            <a:avLst/>
          </a:prstGeom>
          <a:noFill/>
        </p:spPr>
        <p:txBody>
          <a:bodyPr wrap="square">
            <a:spAutoFit/>
          </a:bodyPr>
          <a:lstStyle/>
          <a:p>
            <a:pPr algn="l">
              <a:spcAft>
                <a:spcPts val="800"/>
              </a:spcAft>
            </a:pPr>
            <a:r>
              <a:rPr sz="1600">
                <a:solidFill>
                  <a:srgbClr val="000000"/>
                </a:solidFill>
                <a:latin typeface="Times New Roman"/>
              </a:rPr>
              <a:t>• 10 labelled questions over 5 synthetic statutes (k = 5, pool n = 50); gold clauses fixed in advance.</a:t>
            </a:r>
          </a:p>
          <a:p>
            <a:pPr algn="l">
              <a:spcAft>
                <a:spcPts val="800"/>
              </a:spcAft>
            </a:pPr>
            <a:r>
              <a:rPr sz="1600">
                <a:solidFill>
                  <a:srgbClr val="000000"/>
                </a:solidFill>
                <a:latin typeface="Times New Roman"/>
              </a:rPr>
              <a:t>• SAC F1 = 0.417 vs paragraph chunking 0.333 — recall ≈ 1.000 everywhere, so the gain is precision.</a:t>
            </a:r>
          </a:p>
          <a:p>
            <a:pPr algn="l">
              <a:spcAft>
                <a:spcPts val="800"/>
              </a:spcAft>
            </a:pPr>
            <a:r>
              <a:rPr sz="1600">
                <a:solidFill>
                  <a:srgbClr val="000000"/>
                </a:solidFill>
                <a:latin typeface="Times New Roman"/>
              </a:rPr>
              <a:t>• SAC passes ~550 characters of context per question vs 1,500–1,800 for paragraph chunks — a third of the text, no recall loss.</a:t>
            </a:r>
          </a:p>
          <a:p>
            <a:pPr algn="l">
              <a:spcAft>
                <a:spcPts val="800"/>
              </a:spcAft>
            </a:pPr>
            <a:r>
              <a:rPr sz="1600">
                <a:solidFill>
                  <a:srgbClr val="000000"/>
                </a:solidFill>
                <a:latin typeface="Times New Roman"/>
              </a:rPr>
              <a:t>• Question set too easy to separate dense vs hybrid — reported as such, no conclusion drawn.</a:t>
            </a:r>
          </a:p>
          <a:p>
            <a:pPr algn="l">
              <a:spcAft>
                <a:spcPts val="800"/>
              </a:spcAft>
            </a:pPr>
            <a:r>
              <a:rPr sz="1600">
                <a:solidFill>
                  <a:srgbClr val="000000"/>
                </a:solidFill>
                <a:latin typeface="Times New Roman"/>
              </a:rPr>
              <a:t>• Reranking: 6.7–12.8 s per question (laptop CPU) vs &lt; 0.1 s without.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17</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Results – Verification Ablation</a:t>
            </a:r>
          </a:p>
        </p:txBody>
      </p:sp>
      <p:pic>
        <p:nvPicPr>
          <p:cNvPr id="9" name="Picture 8" descr="page36_fig.png"/>
          <p:cNvPicPr>
            <a:picLocks noChangeAspect="1"/>
          </p:cNvPicPr>
          <p:nvPr/>
        </p:nvPicPr>
        <p:blipFill>
          <a:blip r:embed="rId3"/>
          <a:stretch>
            <a:fillRect/>
          </a:stretch>
        </p:blipFill>
        <p:spPr>
          <a:xfrm>
            <a:off x="6700000" y="1400000"/>
            <a:ext cx="4900000" cy="3053623"/>
          </a:xfrm>
          <a:prstGeom prst="rect">
            <a:avLst/>
          </a:prstGeom>
        </p:spPr>
      </p:pic>
      <p:sp>
        <p:nvSpPr>
          <p:cNvPr id="10" name="TextBox 9"/>
          <p:cNvSpPr txBox="1"/>
          <p:nvPr/>
        </p:nvSpPr>
        <p:spPr>
          <a:xfrm>
            <a:off x="550000" y="1400000"/>
            <a:ext cx="6000000" cy="4700000"/>
          </a:xfrm>
          <a:prstGeom prst="rect">
            <a:avLst/>
          </a:prstGeom>
          <a:noFill/>
        </p:spPr>
        <p:txBody>
          <a:bodyPr wrap="square">
            <a:spAutoFit/>
          </a:bodyPr>
          <a:lstStyle/>
          <a:p>
            <a:pPr algn="l">
              <a:spcAft>
                <a:spcPts val="800"/>
              </a:spcAft>
            </a:pPr>
            <a:r>
              <a:rPr sz="1600">
                <a:solidFill>
                  <a:srgbClr val="000000"/>
                </a:solidFill>
                <a:latin typeface="Times New Roman"/>
              </a:rPr>
              <a:t>• 28 deliberately corrupted claims: 14 fabricated citations + 14 claims swapped between questions.</a:t>
            </a:r>
          </a:p>
          <a:p>
            <a:pPr algn="l">
              <a:spcAft>
                <a:spcPts val="800"/>
              </a:spcAft>
            </a:pPr>
            <a:r>
              <a:rPr sz="1600">
                <a:solidFill>
                  <a:srgbClr val="000000"/>
                </a:solidFill>
                <a:latin typeface="Times New Roman"/>
              </a:rPr>
              <a:t>• Full chain: 0 of 28 shown. Remove any single detector (V1–V4, V6): still 0 of 28 — the detectors overlap.</a:t>
            </a:r>
          </a:p>
          <a:p>
            <a:pPr algn="l">
              <a:spcAft>
                <a:spcPts val="800"/>
              </a:spcAft>
            </a:pPr>
            <a:r>
              <a:rPr sz="1600">
                <a:solidFill>
                  <a:srgbClr val="000000"/>
                </a:solidFill>
                <a:latin typeface="Times New Roman"/>
              </a:rPr>
              <a:t>• Remove the gate (V5): all 28 shown. Scores change nothing unless something acts on them.</a:t>
            </a:r>
          </a:p>
          <a:p>
            <a:pPr algn="l">
              <a:spcAft>
                <a:spcPts val="800"/>
              </a:spcAft>
            </a:pPr>
            <a:r>
              <a:rPr sz="1600">
                <a:solidFill>
                  <a:srgbClr val="000000"/>
                </a:solidFill>
                <a:latin typeface="Times New Roman"/>
              </a:rPr>
              <a:t>• The gate, not any single detector, is what protects the user.</a:t>
            </a:r>
          </a:p>
          <a:p>
            <a:pPr algn="l">
              <a:spcAft>
                <a:spcPts val="800"/>
              </a:spcAft>
            </a:pPr>
            <a:r>
              <a:rPr sz="1600">
                <a:solidFill>
                  <a:srgbClr val="000000"/>
                </a:solidFill>
                <a:latin typeface="Times New Roman"/>
              </a:rPr>
              <a:t>• On clean answers V2 matters most: without it, mean VCS rises 0.768 → 0.813 and one more question is answered.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18</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Results – End-to-End Test on Real Documents</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700">
                <a:solidFill>
                  <a:srgbClr val="000000"/>
                </a:solidFill>
                <a:latin typeface="Times New Roman"/>
              </a:rPr>
              <a:t>• 5 documents through the real interface (3 ContractNLI NDAs, 1 CUAD agreement, 1 synthetic Act); 15 questions in 6 categories, expected answers committed before any upload.</a:t>
            </a:r>
          </a:p>
          <a:p>
            <a:pPr algn="l">
              <a:spcAft>
                <a:spcPts val="800"/>
              </a:spcAft>
            </a:pPr>
            <a:r>
              <a:rPr sz="1700">
                <a:solidFill>
                  <a:srgbClr val="000000"/>
                </a:solidFill>
                <a:latin typeface="Times New Roman"/>
              </a:rPr>
              <a:t>• Outcomes (before → after two parser fixes): correct verified 3 → 4; correct abstention 4 → 5; false abstention 4 → 3; general knowledge correctly labelled 2; wrong-shown-as-verified: 0 → 0.</a:t>
            </a:r>
          </a:p>
          <a:p>
            <a:pPr algn="l">
              <a:spcAft>
                <a:spcPts val="800"/>
              </a:spcAft>
            </a:pPr>
            <a:r>
              <a:rPr sz="1700">
                <a:solidFill>
                  <a:srgbClr val="000000"/>
                </a:solidFill>
                <a:latin typeface="Times New Roman"/>
              </a:rPr>
              <a:t>• No wrong or mis-cited answer was ever shown as verified; every verified claim was supported by the passage its proof quoted.</a:t>
            </a:r>
          </a:p>
          <a:p>
            <a:pPr algn="l">
              <a:spcAft>
                <a:spcPts val="800"/>
              </a:spcAft>
            </a:pPr>
            <a:r>
              <a:rPr sz="1700">
                <a:solidFill>
                  <a:srgbClr val="000000"/>
                </a:solidFill>
                <a:latin typeface="Times New Roman"/>
              </a:rPr>
              <a:t>• Duplicate upload refused; replace restored the same 23 chunks; after deleting a document, questions about it abstained.</a:t>
            </a:r>
          </a:p>
          <a:p>
            <a:pPr algn="l">
              <a:spcAft>
                <a:spcPts val="800"/>
              </a:spcAft>
            </a:pPr>
            <a:r>
              <a:rPr sz="1700">
                <a:solidFill>
                  <a:srgbClr val="000000"/>
                </a:solidFill>
                <a:latin typeface="Times New Roman"/>
              </a:rPr>
              <a:t>• Mean response time 17.3 s (median 16.1 s) — almost all in the model call.</a:t>
            </a:r>
          </a:p>
          <a:p>
            <a:pPr algn="l">
              <a:spcAft>
                <a:spcPts val="800"/>
              </a:spcAft>
            </a:pPr>
            <a:r>
              <a:rPr sz="1700">
                <a:solidFill>
                  <a:srgbClr val="000000"/>
                </a:solidFill>
                <a:latin typeface="Times New Roman"/>
              </a:rPr>
              <a:t>• Most instructive failure: asked the governing law of three agreements, the system showed two correct verified answers and silently dropped the third — verification checks what an answer says, not what it leaves out.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19</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Discussion – Limitations and Responsible AI</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700">
                <a:solidFill>
                  <a:srgbClr val="000000"/>
                </a:solidFill>
                <a:latin typeface="Times New Roman"/>
              </a:rPr>
              <a:t>• Cautious to a fault: 3 of 10 answerable questions refused in the ablation, 4 of 15 in the end-to-end test — mainly a general-domain NLI model judging correct legal claims NEUTRAL.</a:t>
            </a:r>
          </a:p>
          <a:p>
            <a:pPr algn="l">
              <a:spcAft>
                <a:spcPts val="800"/>
              </a:spcAft>
            </a:pPr>
            <a:r>
              <a:rPr sz="1700">
                <a:solidFill>
                  <a:srgbClr val="000000"/>
                </a:solidFill>
                <a:latin typeface="Times New Roman"/>
              </a:rPr>
              <a:t>• The 0.60 threshold is an uncalibrated default; averaging claim scores can let a weak claim ride beside a strong one.</a:t>
            </a:r>
          </a:p>
          <a:p>
            <a:pPr algn="l">
              <a:spcAft>
                <a:spcPts val="800"/>
              </a:spcAft>
            </a:pPr>
            <a:r>
              <a:rPr sz="1700">
                <a:solidFill>
                  <a:srgbClr val="000000"/>
                </a:solidFill>
                <a:latin typeface="Times New Roman"/>
              </a:rPr>
              <a:t>• Completeness is not checked — a partial comparison answer can look complete.</a:t>
            </a:r>
          </a:p>
          <a:p>
            <a:pPr algn="l">
              <a:spcAft>
                <a:spcPts val="800"/>
              </a:spcAft>
            </a:pPr>
            <a:r>
              <a:rPr sz="1700">
                <a:solidFill>
                  <a:srgbClr val="000000"/>
                </a:solidFill>
                <a:latin typeface="Times New Roman"/>
              </a:rPr>
              <a:t>• Small evaluation: the numbers are observations from logged runs, not rates.</a:t>
            </a:r>
          </a:p>
          <a:p>
            <a:pPr algn="l">
              <a:spcAft>
                <a:spcPts val="800"/>
              </a:spcAft>
            </a:pPr>
            <a:r>
              <a:rPr sz="1700">
                <a:solidFill>
                  <a:srgbClr val="000000"/>
                </a:solidFill>
                <a:latin typeface="Times New Roman"/>
              </a:rPr>
              <a:t>• Responsible AI:</a:t>
            </a:r>
          </a:p>
          <a:p>
            <a:pPr algn="l">
              <a:spcAft>
                <a:spcPts val="800"/>
              </a:spcAft>
            </a:pPr>
            <a:r>
              <a:rPr sz="1500">
                <a:solidFill>
                  <a:srgbClr val="000000"/>
                </a:solidFill>
                <a:latin typeface="Times New Roman"/>
              </a:rPr>
              <a:t>   – Research prototype — not legal advice; the proof leaves judgement with a person who can read the source.</a:t>
            </a:r>
          </a:p>
          <a:p>
            <a:pPr algn="l">
              <a:spcAft>
                <a:spcPts val="800"/>
              </a:spcAft>
            </a:pPr>
            <a:r>
              <a:rPr sz="1500">
                <a:solidFill>
                  <a:srgbClr val="000000"/>
                </a:solidFill>
                <a:latin typeface="Times New Roman"/>
              </a:rPr>
              <a:t>   – Index stays local, but questions + retrieved passages go to the LLM provider — users are told; a local-LLM option is future work.</a:t>
            </a:r>
          </a:p>
          <a:p>
            <a:pPr algn="l">
              <a:spcAft>
                <a:spcPts val="800"/>
              </a:spcAft>
            </a:pPr>
            <a:r>
              <a:rPr sz="1500">
                <a:solidFill>
                  <a:srgbClr val="000000"/>
                </a:solidFill>
                <a:latin typeface="Times New Roman"/>
              </a:rPr>
              <a:t>   – Failures are reported alongside successes — the system's limits are part of its record.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20</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Conclusion and Future Work</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700">
                <a:solidFill>
                  <a:srgbClr val="000000"/>
                </a:solidFill>
                <a:latin typeface="Times New Roman"/>
              </a:rPr>
              <a:t>• A small, locally run pipeline can make legal answers checkable: citation-forced generation + overlapping detectors + a single gate kept every corrupted and every wrong answer away from the user in our tests.</a:t>
            </a:r>
          </a:p>
          <a:p>
            <a:pPr algn="l">
              <a:spcAft>
                <a:spcPts val="800"/>
              </a:spcAft>
            </a:pPr>
            <a:r>
              <a:rPr sz="1700">
                <a:solidFill>
                  <a:srgbClr val="000000"/>
                </a:solidFill>
                <a:latin typeface="Times New Roman"/>
              </a:rPr>
              <a:t>• SAC improved retrieval F1 0.333 → 0.417 on a third of the context; the LangChain version reproduced plain-Python results exactly and became the default.</a:t>
            </a:r>
          </a:p>
          <a:p>
            <a:pPr algn="l">
              <a:spcAft>
                <a:spcPts val="800"/>
              </a:spcAft>
            </a:pPr>
            <a:r>
              <a:rPr sz="1700">
                <a:solidFill>
                  <a:srgbClr val="000000"/>
                </a:solidFill>
                <a:latin typeface="Times New Roman"/>
              </a:rPr>
              <a:t>• Future work:</a:t>
            </a:r>
          </a:p>
          <a:p>
            <a:pPr algn="l">
              <a:spcAft>
                <a:spcPts val="800"/>
              </a:spcAft>
            </a:pPr>
            <a:r>
              <a:rPr sz="1500">
                <a:solidFill>
                  <a:srgbClr val="000000"/>
                </a:solidFill>
                <a:latin typeface="Times New Roman"/>
              </a:rPr>
              <a:t>   – Calibrate the threshold on a held-out set; gate each claim separately (or use min instead of mean).</a:t>
            </a:r>
          </a:p>
          <a:p>
            <a:pPr algn="l">
              <a:spcAft>
                <a:spcPts val="800"/>
              </a:spcAft>
            </a:pPr>
            <a:r>
              <a:rPr sz="1500">
                <a:solidFill>
                  <a:srgbClr val="000000"/>
                </a:solidFill>
                <a:latin typeface="Times New Roman"/>
              </a:rPr>
              <a:t>   – Legal-domain NLI model; add the document title to the NLI premise; flag partial answers.</a:t>
            </a:r>
          </a:p>
          <a:p>
            <a:pPr algn="l">
              <a:spcAft>
                <a:spcPts val="800"/>
              </a:spcAft>
            </a:pPr>
            <a:r>
              <a:rPr sz="1500">
                <a:solidFill>
                  <a:srgbClr val="000000"/>
                </a:solidFill>
                <a:latin typeface="Times New Roman"/>
              </a:rPr>
              <a:t>   – Per-document retrieval for comparison questions; evaluate on LegalBench-RAG and Indian statutes from India Code.</a:t>
            </a:r>
          </a:p>
          <a:p>
            <a:pPr algn="l">
              <a:spcAft>
                <a:spcPts val="800"/>
              </a:spcAft>
            </a:pPr>
            <a:r>
              <a:rPr sz="1500">
                <a:solidFill>
                  <a:srgbClr val="000000"/>
                </a:solidFill>
                <a:latin typeface="Times New Roman"/>
              </a:rPr>
              <a:t>   – Server deployment with authentication; local LLM so confidential documents never leave the machine; multilingual support starting with Indian languages.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831" y="0"/>
            <a:ext cx="274320" cy="6876288"/>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5400000">
            <a:off x="4945479" y="-4972257"/>
            <a:ext cx="274320" cy="10186749"/>
          </a:xfrm>
          <a:prstGeom prst="rect">
            <a:avLst/>
          </a:prstGeom>
          <a:solidFill>
            <a:srgbClr val="1D2E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0899312" y="27235"/>
            <a:ext cx="1194366" cy="1337509"/>
          </a:xfrm>
          <a:prstGeom prst="rect">
            <a:avLst/>
          </a:prstGeom>
        </p:spPr>
      </p:pic>
      <p:sp>
        <p:nvSpPr>
          <p:cNvPr id="5" name="TextBox 4"/>
          <p:cNvSpPr txBox="1"/>
          <p:nvPr/>
        </p:nvSpPr>
        <p:spPr>
          <a:xfrm>
            <a:off x="838200" y="6356350"/>
            <a:ext cx="2743200" cy="365125"/>
          </a:xfrm>
          <a:prstGeom prst="rect">
            <a:avLst/>
          </a:prstGeom>
          <a:noFill/>
        </p:spPr>
        <p:txBody>
          <a:bodyPr wrap="none">
            <a:spAutoFit/>
          </a:bodyPr>
          <a:lstStyle/>
          <a:p>
            <a:pPr algn="l"/>
            <a:r>
              <a:rPr sz="1200">
                <a:solidFill>
                  <a:srgbClr val="898989"/>
                </a:solidFill>
                <a:latin typeface="Calibri"/>
              </a:rPr>
              <a:t>02/05/2026</a:t>
            </a:r>
          </a:p>
        </p:txBody>
      </p:sp>
      <p:sp>
        <p:nvSpPr>
          <p:cNvPr id="6" name="TextBox 5"/>
          <p:cNvSpPr txBox="1"/>
          <p:nvPr/>
        </p:nvSpPr>
        <p:spPr>
          <a:xfrm>
            <a:off x="4038600" y="6356350"/>
            <a:ext cx="4114800" cy="365125"/>
          </a:xfrm>
          <a:prstGeom prst="rect">
            <a:avLst/>
          </a:prstGeom>
          <a:noFill/>
        </p:spPr>
        <p:txBody>
          <a:bodyPr wrap="none">
            <a:spAutoFit/>
          </a:bodyPr>
          <a:lstStyle/>
          <a:p>
            <a:pPr algn="ctr"/>
            <a:r>
              <a:rPr sz="1200">
                <a:solidFill>
                  <a:srgbClr val="898989"/>
                </a:solidFill>
                <a:latin typeface="Calibri"/>
              </a:rPr>
              <a:t>Reducing Hallucinations in Legal AI</a:t>
            </a:r>
          </a:p>
        </p:txBody>
      </p:sp>
      <p:sp>
        <p:nvSpPr>
          <p:cNvPr id="7" name="TextBox 6"/>
          <p:cNvSpPr txBox="1"/>
          <p:nvPr/>
        </p:nvSpPr>
        <p:spPr>
          <a:xfrm>
            <a:off x="8610600" y="6356350"/>
            <a:ext cx="2743200" cy="365125"/>
          </a:xfrm>
          <a:prstGeom prst="rect">
            <a:avLst/>
          </a:prstGeom>
          <a:noFill/>
        </p:spPr>
        <p:txBody>
          <a:bodyPr wrap="none">
            <a:spAutoFit/>
          </a:bodyPr>
          <a:lstStyle/>
          <a:p>
            <a:pPr algn="r"/>
            <a:r>
              <a:rPr sz="1200">
                <a:solidFill>
                  <a:srgbClr val="898989"/>
                </a:solidFill>
                <a:latin typeface="Calibri"/>
              </a:rPr>
              <a:t>22</a:t>
            </a:r>
          </a:p>
        </p:txBody>
      </p:sp>
      <p:sp>
        <p:nvSpPr>
          <p:cNvPr id="8" name="TextBox 7"/>
          <p:cNvSpPr txBox="1"/>
          <p:nvPr/>
        </p:nvSpPr>
        <p:spPr>
          <a:xfrm>
            <a:off x="700000" y="350000"/>
            <a:ext cx="10000000" cy="800000"/>
          </a:xfrm>
          <a:prstGeom prst="rect">
            <a:avLst/>
          </a:prstGeom>
          <a:noFill/>
        </p:spPr>
        <p:txBody>
          <a:bodyPr wrap="square">
            <a:spAutoFit/>
          </a:bodyPr>
          <a:lstStyle/>
          <a:p>
            <a:pPr algn="ctr"/>
            <a:r>
              <a:rPr sz="2800" b="1">
                <a:solidFill>
                  <a:srgbClr val="FF0000"/>
                </a:solidFill>
                <a:latin typeface="Times New Roman"/>
              </a:rPr>
              <a:t>References (IEEE Format)</a:t>
            </a:r>
          </a:p>
        </p:txBody>
      </p:sp>
      <p:sp>
        <p:nvSpPr>
          <p:cNvPr id="9" name="TextBox 8"/>
          <p:cNvSpPr txBox="1"/>
          <p:nvPr/>
        </p:nvSpPr>
        <p:spPr>
          <a:xfrm>
            <a:off x="600000" y="1400000"/>
            <a:ext cx="10900000" cy="4700000"/>
          </a:xfrm>
          <a:prstGeom prst="rect">
            <a:avLst/>
          </a:prstGeom>
          <a:noFill/>
        </p:spPr>
        <p:txBody>
          <a:bodyPr wrap="square">
            <a:spAutoFit/>
          </a:bodyPr>
          <a:lstStyle/>
          <a:p>
            <a:pPr algn="l">
              <a:spcAft>
                <a:spcPts val="800"/>
              </a:spcAft>
            </a:pPr>
            <a:r>
              <a:rPr sz="1400">
                <a:solidFill>
                  <a:srgbClr val="000000"/>
                </a:solidFill>
                <a:latin typeface="Times New Roman"/>
              </a:rPr>
              <a:t>• [11] S. H. Wang et al., “MAUD: An expert-annotated legal NLP dataset for merger agreement understanding”, Proc. EMNLP, 2023.</a:t>
            </a:r>
          </a:p>
          <a:p>
            <a:pPr algn="l">
              <a:spcAft>
                <a:spcPts val="800"/>
              </a:spcAft>
            </a:pPr>
            <a:r>
              <a:rPr sz="1400">
                <a:solidFill>
                  <a:srgbClr val="000000"/>
                </a:solidFill>
                <a:latin typeface="Times New Roman"/>
              </a:rPr>
              <a:t>• [12] N. Reimers and I. Gurevych, “Sentence-BERT: Sentence embeddings using Siamese BERT-networks”, Proc. EMNLP-IJCNLP, 2019.</a:t>
            </a:r>
          </a:p>
          <a:p>
            <a:pPr algn="l">
              <a:spcAft>
                <a:spcPts val="800"/>
              </a:spcAft>
            </a:pPr>
            <a:r>
              <a:rPr sz="1400">
                <a:solidFill>
                  <a:srgbClr val="000000"/>
                </a:solidFill>
                <a:latin typeface="Times New Roman"/>
              </a:rPr>
              <a:t>• [13] G. V. Cormack, C. L. A. Clarke, and S. Büttcher, “Reciprocal rank fusion outperforms Condorcet and individual rank learning methods”, Proc. ACM SIGIR, 2009.</a:t>
            </a:r>
          </a:p>
          <a:p>
            <a:pPr algn="l">
              <a:spcAft>
                <a:spcPts val="800"/>
              </a:spcAft>
            </a:pPr>
            <a:r>
              <a:rPr sz="1400">
                <a:solidFill>
                  <a:srgbClr val="000000"/>
                </a:solidFill>
                <a:latin typeface="Times New Roman"/>
              </a:rPr>
              <a:t>• [14] S. Xiao et al., “C-Pack: Packaged resources to advance general Chinese embedding”, arXiv:2309.07597, 2023.</a:t>
            </a:r>
          </a:p>
          <a:p>
            <a:pPr algn="l">
              <a:spcAft>
                <a:spcPts val="800"/>
              </a:spcAft>
            </a:pPr>
            <a:r>
              <a:rPr sz="1400">
                <a:solidFill>
                  <a:srgbClr val="000000"/>
                </a:solidFill>
                <a:latin typeface="Times New Roman"/>
              </a:rPr>
              <a:t>• [15] Y. Liu et al., “RoBERTa: A robustly optimized BERT pretraining approach”, arXiv:1907.11692, 2019.</a:t>
            </a:r>
          </a:p>
          <a:p>
            <a:pPr algn="l">
              <a:spcAft>
                <a:spcPts val="800"/>
              </a:spcAft>
            </a:pPr>
            <a:r>
              <a:rPr sz="1400">
                <a:solidFill>
                  <a:srgbClr val="000000"/>
                </a:solidFill>
                <a:latin typeface="Times New Roman"/>
              </a:rPr>
              <a:t>• [16] A. Williams, N. Nangia, and S. R. Bowman, “A broad-coverage challenge corpus for sentence understanding through inference”, Proc. NAACL-HLT, 2018.</a:t>
            </a:r>
          </a:p>
          <a:p>
            <a:pPr algn="l">
              <a:spcAft>
                <a:spcPts val="800"/>
              </a:spcAft>
            </a:pPr>
            <a:r>
              <a:rPr sz="1400">
                <a:solidFill>
                  <a:srgbClr val="000000"/>
                </a:solidFill>
                <a:latin typeface="Times New Roman"/>
              </a:rPr>
              <a:t>• [17] S. Min et al., “FActScore: Fine-grained atomic evaluation of factual precision in long form text generation”, Proc. EMNLP, 2023.</a:t>
            </a:r>
          </a:p>
          <a:p>
            <a:pPr algn="l">
              <a:spcAft>
                <a:spcPts val="800"/>
              </a:spcAft>
            </a:pPr>
            <a:r>
              <a:rPr sz="1400">
                <a:solidFill>
                  <a:srgbClr val="000000"/>
                </a:solidFill>
                <a:latin typeface="Times New Roman"/>
              </a:rPr>
              <a:t>• [18] P. Manakul, A. Liusie, and M. J. F. Gales, “SelfCheckGPT: Zero-resource black-box hallucination detection for generative large language models”, Proc. EMNLP, 2023.</a:t>
            </a:r>
          </a:p>
          <a:p>
            <a:pPr algn="l">
              <a:spcAft>
                <a:spcPts val="800"/>
              </a:spcAft>
            </a:pPr>
            <a:r>
              <a:rPr sz="1400">
                <a:solidFill>
                  <a:srgbClr val="000000"/>
                </a:solidFill>
                <a:latin typeface="Times New Roman"/>
              </a:rPr>
              <a:t>• [19] H. Chase, “LangChain”, 2022. [Online]. Available: https://github.com/langchain-ai/langchain.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212</Words>
  <Application>Microsoft Office PowerPoint</Application>
  <PresentationFormat>Widescreen</PresentationFormat>
  <Paragraphs>55</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Times New Roman</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padakanti dilip</dc:creator>
  <cp:lastModifiedBy>Kiruthiga Rajendran</cp:lastModifiedBy>
  <cp:revision>10</cp:revision>
  <dcterms:created xsi:type="dcterms:W3CDTF">2025-08-28T08:39:55Z</dcterms:created>
  <dcterms:modified xsi:type="dcterms:W3CDTF">2026-04-29T07:57:16Z</dcterms:modified>
</cp:coreProperties>
</file>